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9"/>
  </p:notesMasterIdLst>
  <p:sldIdLst>
    <p:sldId id="259" r:id="rId2"/>
    <p:sldId id="260" r:id="rId3"/>
    <p:sldId id="265" r:id="rId4"/>
    <p:sldId id="266" r:id="rId5"/>
    <p:sldId id="267" r:id="rId6"/>
    <p:sldId id="268" r:id="rId7"/>
    <p:sldId id="261" r:id="rId8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3354" y="15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836159-3613-4120-BFA1-012C9383E012}" type="datetimeFigureOut">
              <a:rPr lang="de-DE" smtClean="0"/>
              <a:t>04.06.2026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E65AC9-19C0-4845-80EF-46F2659078DC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86526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713232" rtl="0" eaLnBrk="1" latinLnBrk="0" hangingPunct="1">
      <a:defRPr sz="93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State variables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velocity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in </a:t>
            </a:r>
            <a:r>
              <a:rPr lang="de-AT" dirty="0" err="1"/>
              <a:t>body</a:t>
            </a:r>
            <a:r>
              <a:rPr lang="de-AT" dirty="0"/>
              <a:t> frame, </a:t>
            </a:r>
            <a:r>
              <a:rPr lang="de-AT" dirty="0" err="1"/>
              <a:t>state</a:t>
            </a:r>
            <a:r>
              <a:rPr lang="de-AT" dirty="0"/>
              <a:t> variables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position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in global frame.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65AC9-19C0-4845-80EF-46F2659078DC}" type="slidenum">
              <a:rPr lang="de-DE" smtClean="0"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875726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7C7DB-D397-AB6E-BF99-17EFD4771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763F142B-709F-229A-E72F-8ACDD4FC69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61D872FA-DF59-E7DD-CA75-54B7AEB3D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Angular </a:t>
            </a:r>
            <a:r>
              <a:rPr lang="de-AT" dirty="0" err="1"/>
              <a:t>rates</a:t>
            </a:r>
            <a:r>
              <a:rPr lang="de-AT" dirty="0"/>
              <a:t> </a:t>
            </a:r>
            <a:r>
              <a:rPr lang="de-AT" dirty="0" err="1"/>
              <a:t>defined</a:t>
            </a:r>
            <a:r>
              <a:rPr lang="de-AT" dirty="0"/>
              <a:t> in </a:t>
            </a:r>
            <a:r>
              <a:rPr lang="de-AT" dirty="0" err="1"/>
              <a:t>body</a:t>
            </a:r>
            <a:r>
              <a:rPr lang="de-AT" dirty="0"/>
              <a:t> frame, </a:t>
            </a:r>
            <a:r>
              <a:rPr lang="de-AT" dirty="0" err="1"/>
              <a:t>euler</a:t>
            </a:r>
            <a:r>
              <a:rPr lang="de-AT" dirty="0"/>
              <a:t> </a:t>
            </a:r>
            <a:r>
              <a:rPr lang="de-AT" dirty="0" err="1"/>
              <a:t>angles</a:t>
            </a:r>
            <a:r>
              <a:rPr lang="de-AT" dirty="0"/>
              <a:t> </a:t>
            </a:r>
            <a:r>
              <a:rPr lang="de-AT" dirty="0" err="1"/>
              <a:t>defined</a:t>
            </a:r>
            <a:r>
              <a:rPr lang="de-AT" dirty="0"/>
              <a:t> in intermediate </a:t>
            </a:r>
            <a:r>
              <a:rPr lang="de-AT" dirty="0" err="1"/>
              <a:t>coordinate</a:t>
            </a:r>
            <a:r>
              <a:rPr lang="de-AT" dirty="0"/>
              <a:t> </a:t>
            </a:r>
            <a:r>
              <a:rPr lang="de-AT" dirty="0" err="1"/>
              <a:t>frames</a:t>
            </a:r>
            <a:r>
              <a:rPr lang="de-AT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C909C4F-3E8D-32E3-B83E-696775F64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65AC9-19C0-4845-80EF-46F2659078DC}" type="slidenum">
              <a:rPr lang="de-DE" smtClean="0"/>
              <a:t>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62565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538A2-212C-F6C9-66D1-1EA4F6960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C243BFA-B7BC-1FBB-8CAC-2868059083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78AACE6-78C7-0111-A5C1-F29C70E561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Linear EOM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defined</a:t>
            </a:r>
            <a:r>
              <a:rPr lang="de-AT" dirty="0"/>
              <a:t> in global </a:t>
            </a:r>
            <a:r>
              <a:rPr lang="de-AT" dirty="0" err="1"/>
              <a:t>reference</a:t>
            </a:r>
            <a:r>
              <a:rPr lang="de-AT" dirty="0"/>
              <a:t> frame. </a:t>
            </a:r>
            <a:r>
              <a:rPr lang="de-AT" dirty="0" err="1"/>
              <a:t>Acc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quadrotor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equal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sum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force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gravity</a:t>
            </a:r>
            <a:r>
              <a:rPr lang="de-AT" dirty="0"/>
              <a:t>, </a:t>
            </a:r>
            <a:r>
              <a:rPr lang="de-AT" dirty="0" err="1"/>
              <a:t>thrust</a:t>
            </a:r>
            <a:r>
              <a:rPr lang="de-AT" dirty="0"/>
              <a:t> </a:t>
            </a:r>
            <a:r>
              <a:rPr lang="de-AT" dirty="0" err="1"/>
              <a:t>force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motors</a:t>
            </a:r>
            <a:r>
              <a:rPr lang="de-AT" dirty="0"/>
              <a:t> and linear </a:t>
            </a:r>
            <a:r>
              <a:rPr lang="de-AT" dirty="0" err="1"/>
              <a:t>friction</a:t>
            </a:r>
            <a:r>
              <a:rPr lang="de-AT" dirty="0"/>
              <a:t> </a:t>
            </a:r>
            <a:r>
              <a:rPr lang="de-AT" dirty="0" err="1"/>
              <a:t>force</a:t>
            </a:r>
            <a:r>
              <a:rPr lang="de-AT" dirty="0"/>
              <a:t> </a:t>
            </a:r>
            <a:r>
              <a:rPr lang="de-AT" dirty="0" err="1"/>
              <a:t>leading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drag</a:t>
            </a:r>
            <a:r>
              <a:rPr lang="de-AT" dirty="0"/>
              <a:t>. The </a:t>
            </a:r>
            <a:r>
              <a:rPr lang="de-AT" dirty="0" err="1"/>
              <a:t>thrust</a:t>
            </a:r>
            <a:r>
              <a:rPr lang="de-AT" dirty="0"/>
              <a:t> </a:t>
            </a:r>
            <a:r>
              <a:rPr lang="de-AT" dirty="0" err="1"/>
              <a:t>vector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body</a:t>
            </a:r>
            <a:r>
              <a:rPr lang="de-AT" dirty="0"/>
              <a:t> frame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transformed</a:t>
            </a:r>
            <a:r>
              <a:rPr lang="de-AT" dirty="0"/>
              <a:t> </a:t>
            </a:r>
            <a:r>
              <a:rPr lang="de-AT" dirty="0" err="1"/>
              <a:t>into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global frame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rotation</a:t>
            </a:r>
            <a:r>
              <a:rPr lang="de-AT" dirty="0"/>
              <a:t> </a:t>
            </a:r>
            <a:r>
              <a:rPr lang="de-AT" dirty="0" err="1"/>
              <a:t>matrix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 </a:t>
            </a:r>
            <a:r>
              <a:rPr lang="de-AT" dirty="0" err="1"/>
              <a:t>slides</a:t>
            </a:r>
            <a:r>
              <a:rPr lang="de-AT" dirty="0"/>
              <a:t> </a:t>
            </a:r>
            <a:r>
              <a:rPr lang="de-AT" dirty="0" err="1"/>
              <a:t>before</a:t>
            </a:r>
            <a:r>
              <a:rPr lang="de-AT" dirty="0"/>
              <a:t>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753B18-177D-D2E2-CE25-AF5C55309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65AC9-19C0-4845-80EF-46F2659078DC}" type="slidenum">
              <a:rPr lang="de-DE" smtClean="0"/>
              <a:t>4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629647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B5B21-B5A1-37F5-48C8-302F15EEB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23CA69F-4D7E-2ECC-28E2-E51EFF7B8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59A7722-D3E9-F7DB-5577-B2B24E390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Translational </a:t>
            </a:r>
            <a:r>
              <a:rPr lang="de-AT" dirty="0" err="1"/>
              <a:t>dynamics</a:t>
            </a:r>
            <a:r>
              <a:rPr lang="de-AT" dirty="0"/>
              <a:t> in </a:t>
            </a:r>
            <a:r>
              <a:rPr lang="de-AT" dirty="0" err="1"/>
              <a:t>world</a:t>
            </a:r>
            <a:r>
              <a:rPr lang="de-AT" dirty="0"/>
              <a:t> frame, </a:t>
            </a:r>
            <a:r>
              <a:rPr lang="de-AT" dirty="0" err="1"/>
              <a:t>rotational</a:t>
            </a:r>
            <a:r>
              <a:rPr lang="de-AT" dirty="0"/>
              <a:t> </a:t>
            </a:r>
            <a:r>
              <a:rPr lang="de-AT" dirty="0" err="1"/>
              <a:t>dynamics</a:t>
            </a:r>
            <a:r>
              <a:rPr lang="de-AT" dirty="0"/>
              <a:t> in </a:t>
            </a:r>
            <a:r>
              <a:rPr lang="de-AT" dirty="0" err="1"/>
              <a:t>body</a:t>
            </a:r>
            <a:r>
              <a:rPr lang="de-AT" dirty="0"/>
              <a:t> frame. </a:t>
            </a:r>
            <a:r>
              <a:rPr lang="de-AT" dirty="0" err="1"/>
              <a:t>Rotational</a:t>
            </a:r>
            <a:r>
              <a:rPr lang="de-AT" dirty="0"/>
              <a:t> </a:t>
            </a:r>
            <a:r>
              <a:rPr lang="de-AT" dirty="0" err="1"/>
              <a:t>physics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translated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world</a:t>
            </a:r>
            <a:r>
              <a:rPr lang="de-AT" dirty="0"/>
              <a:t> via </a:t>
            </a:r>
            <a:r>
              <a:rPr lang="de-AT" dirty="0" err="1"/>
              <a:t>matrix</a:t>
            </a:r>
            <a:r>
              <a:rPr lang="de-AT" dirty="0"/>
              <a:t> on </a:t>
            </a:r>
            <a:r>
              <a:rPr lang="de-AT" dirty="0" err="1"/>
              <a:t>slide</a:t>
            </a:r>
            <a:r>
              <a:rPr lang="de-AT" dirty="0"/>
              <a:t> </a:t>
            </a:r>
            <a:r>
              <a:rPr lang="de-AT" dirty="0" err="1"/>
              <a:t>rotational</a:t>
            </a:r>
            <a:r>
              <a:rPr lang="de-AT" dirty="0"/>
              <a:t> </a:t>
            </a:r>
            <a:r>
              <a:rPr lang="de-AT" dirty="0" err="1"/>
              <a:t>kinematics</a:t>
            </a:r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E3053C-3ED4-F040-CDEF-33C7848A43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65AC9-19C0-4845-80EF-46F2659078DC}" type="slidenum">
              <a:rPr lang="de-DE" smtClean="0"/>
              <a:t>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963226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72E92-E983-871D-DFC4-339C7F9F7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F06029B-C54B-9CF1-D9E0-8C30D251BE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DEB29F1-35E6-8447-9473-9C9484BD34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C59ACF6-1FA0-F5E8-8DAE-EE54651F46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E65AC9-19C0-4845-80EF-46F2659078DC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218730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mailto:office@mci.edu" TargetMode="External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3">
            <a:extLst>
              <a:ext uri="{FF2B5EF4-FFF2-40B4-BE49-F238E27FC236}">
                <a16:creationId xmlns:a16="http://schemas.microsoft.com/office/drawing/2014/main" id="{7A639B91-ADF9-4E37-9944-553567CD9B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820" y="472535"/>
            <a:ext cx="6071305" cy="87903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800" b="1" i="0">
                <a:solidFill>
                  <a:schemeClr val="bg1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a two-line headline</a:t>
            </a:r>
          </a:p>
          <a:p>
            <a:r>
              <a:rPr lang="en-US" noProof="0" dirty="0"/>
              <a:t>here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414461B-C70D-4B56-96BB-74CCBD66FD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4610857"/>
            <a:ext cx="3744913" cy="73422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Author| course title or equivalent can be added here</a:t>
            </a:r>
          </a:p>
        </p:txBody>
      </p:sp>
    </p:spTree>
    <p:extLst>
      <p:ext uri="{BB962C8B-B14F-4D97-AF65-F5344CB8AC3E}">
        <p14:creationId xmlns:p14="http://schemas.microsoft.com/office/powerpoint/2010/main" val="2557605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3">
            <a:extLst>
              <a:ext uri="{FF2B5EF4-FFF2-40B4-BE49-F238E27FC236}">
                <a16:creationId xmlns:a16="http://schemas.microsoft.com/office/drawing/2014/main" id="{7A639B91-ADF9-4E37-9944-553567CD9B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820" y="472535"/>
            <a:ext cx="6071305" cy="87903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800" b="1" i="0">
                <a:solidFill>
                  <a:schemeClr val="bg1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a two-line headline</a:t>
            </a:r>
          </a:p>
          <a:p>
            <a:r>
              <a:rPr lang="en-US" noProof="0" dirty="0"/>
              <a:t>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078B448-F893-4216-85CC-AA17EE205D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4610857"/>
            <a:ext cx="3744913" cy="73422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Author| course title or equivalent can be added here</a:t>
            </a:r>
          </a:p>
        </p:txBody>
      </p:sp>
    </p:spTree>
    <p:extLst>
      <p:ext uri="{BB962C8B-B14F-4D97-AF65-F5344CB8AC3E}">
        <p14:creationId xmlns:p14="http://schemas.microsoft.com/office/powerpoint/2010/main" val="9852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slide cours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08AB89B8-54A3-4FA8-AD3D-E447902B7A0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3048"/>
            <a:ext cx="9144000" cy="5718048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</p:pic>
      <p:sp>
        <p:nvSpPr>
          <p:cNvPr id="8" name="Textplatzhalter 3">
            <a:extLst>
              <a:ext uri="{FF2B5EF4-FFF2-40B4-BE49-F238E27FC236}">
                <a16:creationId xmlns:a16="http://schemas.microsoft.com/office/drawing/2014/main" id="{7A639B91-ADF9-4E37-9944-553567CD9B9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820" y="472535"/>
            <a:ext cx="6071305" cy="87903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10000"/>
              </a:lnSpc>
              <a:spcBef>
                <a:spcPts val="0"/>
              </a:spcBef>
              <a:buNone/>
              <a:defRPr sz="2800" b="1" i="0">
                <a:solidFill>
                  <a:schemeClr val="bg1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a two-line headline</a:t>
            </a:r>
          </a:p>
          <a:p>
            <a:r>
              <a:rPr lang="en-US" noProof="0" dirty="0"/>
              <a:t>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078B448-F893-4216-85CC-AA17EE205DC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4610857"/>
            <a:ext cx="3744913" cy="734225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0" i="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Author| course title or equivalent can be added here</a:t>
            </a:r>
          </a:p>
        </p:txBody>
      </p:sp>
    </p:spTree>
    <p:extLst>
      <p:ext uri="{BB962C8B-B14F-4D97-AF65-F5344CB8AC3E}">
        <p14:creationId xmlns:p14="http://schemas.microsoft.com/office/powerpoint/2010/main" val="311424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36AE3C9E-F15A-4C15-A493-03237F70A0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150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89D532F1-2738-41DF-A050-608FA5A278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890" y="531916"/>
            <a:ext cx="8087360" cy="309167"/>
          </a:xfrm>
          <a:prstGeom prst="rect">
            <a:avLst/>
          </a:prstGeom>
        </p:spPr>
        <p:txBody>
          <a:bodyPr lIns="0" tIns="0" rIns="0" bIns="0"/>
          <a:lstStyle>
            <a:lvl1pPr>
              <a:defRPr sz="2800" b="1" i="0">
                <a:solidFill>
                  <a:schemeClr val="bg1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Table of Contents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1F36D88-9EA8-41AF-8CEE-91F66619E8D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1233232"/>
            <a:ext cx="8071874" cy="3856293"/>
          </a:xfrm>
          <a:prstGeom prst="rect">
            <a:avLst/>
          </a:prstGeom>
        </p:spPr>
        <p:txBody>
          <a:bodyPr lIns="0" tIns="0" rIns="0" bIns="0"/>
          <a:lstStyle>
            <a:lvl1pPr marL="342900" indent="-342900">
              <a:lnSpc>
                <a:spcPct val="121000"/>
              </a:lnSpc>
              <a:spcBef>
                <a:spcPts val="0"/>
              </a:spcBef>
              <a:buFont typeface="+mj-lt"/>
              <a:buAutoNum type="arabicPeriod"/>
              <a:defRPr sz="1600" b="0" i="0">
                <a:solidFill>
                  <a:schemeClr val="bg1"/>
                </a:solidFill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42900" indent="0">
              <a:buFont typeface="+mj-lt"/>
              <a:buNone/>
              <a:defRPr b="0" i="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2pPr>
          </a:lstStyle>
          <a:p>
            <a:pPr lvl="0"/>
            <a:r>
              <a:rPr lang="en-US" noProof="0" dirty="0"/>
              <a:t>point 1</a:t>
            </a:r>
          </a:p>
          <a:p>
            <a:pPr lvl="0"/>
            <a:r>
              <a:rPr lang="en-US" noProof="0" dirty="0"/>
              <a:t>point 2</a:t>
            </a:r>
          </a:p>
          <a:p>
            <a:pPr lvl="0"/>
            <a:r>
              <a:rPr lang="en-US" noProof="0" dirty="0"/>
              <a:t>point 3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78CA4C1-155B-4139-B6FB-44B967412974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415511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5BDE91BB-1874-40FB-BF37-9ECD12BE9CA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15000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8E25168-A22B-45F9-81C9-AAA0A8483B40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A3AAD3E-04F7-46F8-BCAA-9C3A9121D54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1177701"/>
            <a:ext cx="3744913" cy="327678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21000"/>
              </a:lnSpc>
              <a:spcBef>
                <a:spcPts val="0"/>
              </a:spcBef>
              <a:buNone/>
              <a:defRPr sz="1600" b="0" i="0">
                <a:solidFill>
                  <a:schemeClr val="bg1"/>
                </a:solidFill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Chapter XX</a:t>
            </a:r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2A1054CE-6247-4410-8F39-6F06FD1B72F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820" y="1874469"/>
            <a:ext cx="6071305" cy="2888361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21000"/>
              </a:lnSpc>
              <a:spcBef>
                <a:spcPts val="0"/>
              </a:spcBef>
              <a:buNone/>
              <a:defRPr sz="2800" b="1" i="0">
                <a:solidFill>
                  <a:schemeClr val="bg1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Chapter </a:t>
            </a:r>
            <a:r>
              <a:rPr lang="en-US" noProof="0" dirty="0" err="1"/>
              <a:t>titel</a:t>
            </a:r>
            <a:endParaRPr lang="en-US" noProof="0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6754B90-6B59-440D-97C0-6E6E9B5EA7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3436754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AC24E76-DB01-4F9B-A3AC-7E65837F7552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EA2FE1-A577-489C-98FF-223D5D3DB8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890" y="531916"/>
            <a:ext cx="8087360" cy="309167"/>
          </a:xfrm>
          <a:prstGeom prst="rect">
            <a:avLst/>
          </a:prstGeom>
        </p:spPr>
        <p:txBody>
          <a:bodyPr lIns="0" tIns="0" rIns="0" bIns="0"/>
          <a:lstStyle>
            <a:lvl1pPr>
              <a:defRPr sz="2800" b="1" i="0">
                <a:solidFill>
                  <a:srgbClr val="004983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heading here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9B9DF61-78D2-4B4B-A444-99F049B9D8F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1213658"/>
            <a:ext cx="3744913" cy="3654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1000"/>
              </a:lnSpc>
              <a:spcBef>
                <a:spcPts val="0"/>
              </a:spcBef>
              <a:defRPr sz="16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Bullet point 1</a:t>
            </a:r>
          </a:p>
          <a:p>
            <a:pPr lvl="0"/>
            <a:r>
              <a:rPr lang="en-US" noProof="0" dirty="0"/>
              <a:t>Bullet point 2</a:t>
            </a:r>
          </a:p>
          <a:p>
            <a:pPr lvl="0"/>
            <a:r>
              <a:rPr lang="en-US" noProof="0" dirty="0"/>
              <a:t>Bullet point 3</a:t>
            </a:r>
          </a:p>
          <a:p>
            <a:pPr lvl="0"/>
            <a:r>
              <a:rPr lang="en-US" noProof="0" dirty="0"/>
              <a:t>Bullet point …</a:t>
            </a:r>
          </a:p>
          <a:p>
            <a:pPr lvl="0"/>
            <a:endParaRPr lang="en-US" dirty="0"/>
          </a:p>
          <a:p>
            <a:pPr lvl="0"/>
            <a:endParaRPr lang="de-DE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A7094E5-21AE-4BE5-A259-BE7A96ACD864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859339" y="1213658"/>
            <a:ext cx="3744912" cy="3654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1000"/>
              </a:lnSpc>
              <a:spcBef>
                <a:spcPts val="0"/>
              </a:spcBef>
              <a:defRPr sz="16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Bullet point 1</a:t>
            </a:r>
          </a:p>
          <a:p>
            <a:pPr lvl="0"/>
            <a:r>
              <a:rPr lang="en-US" noProof="0" dirty="0"/>
              <a:t>Bullet point 2</a:t>
            </a:r>
          </a:p>
          <a:p>
            <a:pPr lvl="0"/>
            <a:r>
              <a:rPr lang="en-US" noProof="0" dirty="0"/>
              <a:t>Bullet point 3</a:t>
            </a:r>
          </a:p>
          <a:p>
            <a:pPr lvl="0"/>
            <a:r>
              <a:rPr lang="en-US" noProof="0" dirty="0"/>
              <a:t>Bullet point …</a:t>
            </a:r>
          </a:p>
          <a:p>
            <a:pPr lvl="0"/>
            <a:endParaRPr lang="en-US" dirty="0"/>
          </a:p>
          <a:p>
            <a:pPr lvl="0"/>
            <a:endParaRPr lang="de-DE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822D6DE8-DA05-4BFD-83D8-937B39EB76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2903422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4FC925E-452D-4080-B210-EDC5BF740C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890" y="531950"/>
            <a:ext cx="8087360" cy="309167"/>
          </a:xfrm>
          <a:prstGeom prst="rect">
            <a:avLst/>
          </a:prstGeom>
        </p:spPr>
        <p:txBody>
          <a:bodyPr lIns="0" tIns="0" rIns="0" bIns="0"/>
          <a:lstStyle>
            <a:lvl1pPr>
              <a:defRPr sz="2800" b="1" i="0">
                <a:solidFill>
                  <a:srgbClr val="004983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heading here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1189432-5286-49FD-91D0-31E529DB54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1180407"/>
            <a:ext cx="3744913" cy="3654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21000"/>
              </a:lnSpc>
              <a:spcBef>
                <a:spcPts val="0"/>
              </a:spcBef>
              <a:buNone/>
              <a:defRPr sz="16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Text can be entered here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C36268C-854B-4803-9DE0-9F1941280059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4859339" y="1180407"/>
            <a:ext cx="3744912" cy="3654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21000"/>
              </a:lnSpc>
              <a:spcBef>
                <a:spcPts val="0"/>
              </a:spcBef>
              <a:buNone/>
              <a:defRPr sz="16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Text can be entered here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2E04410D-F744-4715-A956-8005E093EAB3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7400AC03-A31F-48B1-B112-5E28D7408C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3544466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- bullet points &amp;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39D15BC-B49C-45D8-949F-E4AA38C07F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890" y="531951"/>
            <a:ext cx="3767773" cy="309167"/>
          </a:xfrm>
          <a:prstGeom prst="rect">
            <a:avLst/>
          </a:prstGeom>
        </p:spPr>
        <p:txBody>
          <a:bodyPr lIns="0" tIns="0" rIns="0" bIns="0"/>
          <a:lstStyle>
            <a:lvl1pPr>
              <a:defRPr sz="2800" b="1" i="0">
                <a:solidFill>
                  <a:srgbClr val="004983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heading here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3010560-5CDB-444E-8FD2-675F9A9D8A8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1213658"/>
            <a:ext cx="3744913" cy="3654000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121000"/>
              </a:lnSpc>
              <a:spcBef>
                <a:spcPts val="0"/>
              </a:spcBef>
              <a:defRPr sz="16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Bullet point 1</a:t>
            </a:r>
          </a:p>
          <a:p>
            <a:pPr lvl="0"/>
            <a:r>
              <a:rPr lang="en-US" noProof="0" dirty="0"/>
              <a:t>Bullet point 2</a:t>
            </a:r>
          </a:p>
          <a:p>
            <a:pPr lvl="0"/>
            <a:r>
              <a:rPr lang="en-US" noProof="0" dirty="0"/>
              <a:t>Bullet point 3</a:t>
            </a:r>
          </a:p>
          <a:p>
            <a:pPr lvl="0"/>
            <a:r>
              <a:rPr lang="en-US" noProof="0" dirty="0"/>
              <a:t>Bullet point …</a:t>
            </a:r>
          </a:p>
          <a:p>
            <a:pPr lvl="0"/>
            <a:endParaRPr lang="en-US" dirty="0"/>
          </a:p>
          <a:p>
            <a:pPr lvl="0"/>
            <a:endParaRPr lang="de-DE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7" name="Bildplatzhalter 2">
            <a:extLst>
              <a:ext uri="{FF2B5EF4-FFF2-40B4-BE49-F238E27FC236}">
                <a16:creationId xmlns:a16="http://schemas.microsoft.com/office/drawing/2014/main" id="{DA7D37BA-DF05-4662-A834-7972DD5F751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9339" y="554038"/>
            <a:ext cx="3744912" cy="43136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D10BF7D-4FA1-4CFF-870A-589A86545A79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83C58E-AFEF-4269-BE0B-4C4AC8CE76E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 rot="16200000">
            <a:off x="7746887" y="3742486"/>
            <a:ext cx="2062133" cy="18821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8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de-AT" dirty="0"/>
              <a:t>© Copyright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4FE8C2B-C399-4FA2-949B-BA8515387E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2671232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- text &amp;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39D15BC-B49C-45D8-949F-E4AA38C07F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890" y="531951"/>
            <a:ext cx="3767773" cy="309167"/>
          </a:xfrm>
          <a:prstGeom prst="rect">
            <a:avLst/>
          </a:prstGeom>
        </p:spPr>
        <p:txBody>
          <a:bodyPr lIns="0" tIns="0" rIns="0" bIns="0"/>
          <a:lstStyle>
            <a:lvl1pPr>
              <a:defRPr sz="2800" b="1" i="0">
                <a:solidFill>
                  <a:srgbClr val="004983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heading here</a:t>
            </a:r>
          </a:p>
        </p:txBody>
      </p:sp>
      <p:sp>
        <p:nvSpPr>
          <p:cNvPr id="7" name="Bildplatzhalter 2">
            <a:extLst>
              <a:ext uri="{FF2B5EF4-FFF2-40B4-BE49-F238E27FC236}">
                <a16:creationId xmlns:a16="http://schemas.microsoft.com/office/drawing/2014/main" id="{DA7D37BA-DF05-4662-A834-7972DD5F751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59339" y="554038"/>
            <a:ext cx="3744912" cy="431362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D10BF7D-4FA1-4CFF-870A-589A86545A79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383C58E-AFEF-4269-BE0B-4C4AC8CE76E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 rot="16200000">
            <a:off x="7746887" y="3742486"/>
            <a:ext cx="2062133" cy="18821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8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de-AT" dirty="0"/>
              <a:t>© Copyright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384E631-0E28-4532-97BC-55C656C1DA8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1180408"/>
            <a:ext cx="3744913" cy="3654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21000"/>
              </a:lnSpc>
              <a:spcBef>
                <a:spcPts val="0"/>
              </a:spcBef>
              <a:buNone/>
              <a:defRPr sz="16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Text can be entered here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875E214-3A0D-42F8-A28D-1C5E973A60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3430110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F091B9E-46CC-4F2F-9D6A-208A92885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890" y="531955"/>
            <a:ext cx="8087360" cy="309167"/>
          </a:xfrm>
          <a:prstGeom prst="rect">
            <a:avLst/>
          </a:prstGeom>
        </p:spPr>
        <p:txBody>
          <a:bodyPr lIns="0" tIns="0" rIns="0" bIns="0"/>
          <a:lstStyle>
            <a:lvl1pPr>
              <a:defRPr sz="2800" b="1" i="0">
                <a:solidFill>
                  <a:srgbClr val="004983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heading here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A606166-1C65-453D-B425-2F56A86CE59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1180408"/>
            <a:ext cx="8064500" cy="3654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21000"/>
              </a:lnSpc>
              <a:spcBef>
                <a:spcPts val="0"/>
              </a:spcBef>
              <a:buNone/>
              <a:defRPr sz="16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Text can be entered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9BF4A75-C53B-4165-831F-A2CBFCFF355E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AA9E7D1-8DB8-489A-B535-43C5A1ABD8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34119533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&amp;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FF091B9E-46CC-4F2F-9D6A-208A92885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890" y="531955"/>
            <a:ext cx="8087360" cy="309167"/>
          </a:xfrm>
          <a:prstGeom prst="rect">
            <a:avLst/>
          </a:prstGeom>
        </p:spPr>
        <p:txBody>
          <a:bodyPr lIns="0" tIns="0" rIns="0" bIns="0"/>
          <a:lstStyle>
            <a:lvl1pPr>
              <a:defRPr sz="2800" b="1" i="0">
                <a:solidFill>
                  <a:srgbClr val="004983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heading here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19BF4A75-C53B-4165-831F-A2CBFCFF355E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EDA1269-E68C-4934-B820-6A1613067BC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9750" y="1180408"/>
            <a:ext cx="8064500" cy="3654000"/>
          </a:xfrm>
          <a:prstGeom prst="rect">
            <a:avLst/>
          </a:prstGeom>
        </p:spPr>
        <p:txBody>
          <a:bodyPr lIns="0" tIns="0" rIns="0" bIns="0"/>
          <a:lstStyle>
            <a:lvl1pPr marL="285750" indent="-285750">
              <a:lnSpc>
                <a:spcPct val="121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en-US" noProof="0" dirty="0"/>
              <a:t>Bullet points can be added here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D4742C58-EE4E-4224-A0AE-41443E32A1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15229241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ing &amp;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FD06FB3-18FB-4ABC-BF94-10243BDA53C8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4908F2C-0F9D-4ABE-B94A-3BC2172C8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6890" y="531954"/>
            <a:ext cx="8064500" cy="309167"/>
          </a:xfrm>
          <a:prstGeom prst="rect">
            <a:avLst/>
          </a:prstGeom>
        </p:spPr>
        <p:txBody>
          <a:bodyPr lIns="0" tIns="0" rIns="0" bIns="0"/>
          <a:lstStyle>
            <a:lvl1pPr>
              <a:defRPr sz="2800" b="1" i="0">
                <a:solidFill>
                  <a:srgbClr val="004983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en-US" noProof="0" dirty="0"/>
              <a:t>Add heading here</a:t>
            </a:r>
          </a:p>
        </p:txBody>
      </p:sp>
      <p:sp>
        <p:nvSpPr>
          <p:cNvPr id="9" name="Bildplatzhalter 2">
            <a:extLst>
              <a:ext uri="{FF2B5EF4-FFF2-40B4-BE49-F238E27FC236}">
                <a16:creationId xmlns:a16="http://schemas.microsoft.com/office/drawing/2014/main" id="{97943ADF-5BD0-42C9-A63E-DD7C23F5328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39751" y="1130531"/>
            <a:ext cx="8064500" cy="3654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400" i="0">
                <a:solidFill>
                  <a:schemeClr val="tx1"/>
                </a:solidFill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r>
              <a:rPr lang="de-DE" dirty="0"/>
              <a:t>Bild einfügen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604EA9B-0BCC-4B1B-9E9C-28C9BECE340F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 rot="16200000">
            <a:off x="7754344" y="3659359"/>
            <a:ext cx="2062133" cy="18821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800" b="0" i="0"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de-AT" dirty="0"/>
              <a:t>© Copyright</a:t>
            </a:r>
            <a:endParaRPr lang="en-US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89AFF96-8E94-498B-A698-88EE547D6A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3339891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fik 10">
            <a:extLst>
              <a:ext uri="{FF2B5EF4-FFF2-40B4-BE49-F238E27FC236}">
                <a16:creationId xmlns:a16="http://schemas.microsoft.com/office/drawing/2014/main" id="{749B87AD-479B-414D-8020-9B24BCC0F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15000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FD06FB3-18FB-4ABC-BF94-10243BDA53C8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12" name="Textplatzhalter 3">
            <a:extLst>
              <a:ext uri="{FF2B5EF4-FFF2-40B4-BE49-F238E27FC236}">
                <a16:creationId xmlns:a16="http://schemas.microsoft.com/office/drawing/2014/main" id="{7CC136C1-E862-4DF4-87B0-CD9BDDDF4A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6820" y="1033532"/>
            <a:ext cx="6071305" cy="3455813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21000"/>
              </a:lnSpc>
              <a:spcBef>
                <a:spcPts val="0"/>
              </a:spcBef>
              <a:buNone/>
              <a:defRPr sz="2800" b="1" i="0">
                <a:solidFill>
                  <a:schemeClr val="bg1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r>
              <a:rPr lang="de-DE" dirty="0"/>
              <a:t>„</a:t>
            </a:r>
            <a:r>
              <a:rPr lang="en-US" noProof="0" dirty="0"/>
              <a:t>Here you can add a quotation or any extended content that should be highlighted“.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2B3B9A65-FE80-441C-AD0E-79F3D14867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10412131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50807F4C-D8E2-45B8-8FB3-5BF0EB7EE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715000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FD06FB3-18FB-4ABC-BF94-10243BDA53C8}"/>
              </a:ext>
            </a:extLst>
          </p:cNvPr>
          <p:cNvSpPr txBox="1">
            <a:spLocks/>
          </p:cNvSpPr>
          <p:nvPr userDrawn="1"/>
        </p:nvSpPr>
        <p:spPr>
          <a:xfrm>
            <a:off x="6554224" y="5452789"/>
            <a:ext cx="2057400" cy="262211"/>
          </a:xfrm>
          <a:prstGeom prst="rect">
            <a:avLst/>
          </a:prstGeom>
        </p:spPr>
        <p:txBody>
          <a:bodyPr lIns="0" tIns="0" rIns="0" bIns="0"/>
          <a:lstStyle>
            <a:defPPr>
              <a:defRPr lang="de-DE"/>
            </a:defPPr>
            <a:lvl1pPr marL="0" algn="r" defTabSz="713232" rtl="0" eaLnBrk="1" latinLnBrk="0" hangingPunct="1">
              <a:defRPr sz="800" b="0" i="0" kern="1200">
                <a:solidFill>
                  <a:schemeClr val="bg1"/>
                </a:solidFill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defRPr>
            </a:lvl1pPr>
            <a:lvl2pPr marL="35661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323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6984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26464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83080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139696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96312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852928" algn="l" defTabSz="713232" rtl="0" eaLnBrk="1" latinLnBrk="0" hangingPunct="1">
              <a:defRPr sz="140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A63F59B3-079B-614A-A46D-DBCA13C16B6F}" type="slidenum">
              <a:rPr lang="de-DE" smtClean="0">
                <a:latin typeface="+mn-lt"/>
              </a:rPr>
              <a:pPr/>
              <a:t>‹Nr.›</a:t>
            </a:fld>
            <a:endParaRPr lang="de-DE" dirty="0">
              <a:latin typeface="+mn-lt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823C92D-19B6-4148-85A9-79EA2D5DE8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4264" y="2693116"/>
            <a:ext cx="8087360" cy="1016866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685800" rtl="0" eaLnBrk="1" fontAlgn="auto" latinLnBrk="0" hangingPunct="1">
              <a:lnSpc>
                <a:spcPct val="121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000" b="1" i="0" baseline="0">
                <a:solidFill>
                  <a:schemeClr val="bg1"/>
                </a:solidFill>
                <a:latin typeface="+mj-lt"/>
                <a:ea typeface="Noto Sans SemiBold" panose="020B0502040504020204" pitchFamily="34" charset="0"/>
                <a:cs typeface="Noto Sans SemiBold" panose="020B0502040504020204" pitchFamily="34" charset="0"/>
              </a:defRPr>
            </a:lvl1pPr>
          </a:lstStyle>
          <a:p>
            <a:pPr lvl="0"/>
            <a:r>
              <a:rPr lang="de-DE" dirty="0"/>
              <a:t>MCI | Die Unternehmerische Hochschule®</a:t>
            </a:r>
            <a:br>
              <a:rPr lang="de-DE" dirty="0"/>
            </a:br>
            <a:r>
              <a:rPr lang="de-DE" dirty="0"/>
              <a:t>MCI | The </a:t>
            </a:r>
            <a:r>
              <a:rPr lang="de-DE" dirty="0" err="1"/>
              <a:t>Entrepreneurial</a:t>
            </a:r>
            <a:r>
              <a:rPr lang="de-DE" dirty="0"/>
              <a:t> School®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CE1CD91-C75E-4089-AA65-9B06BCCF272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2376" y="3709981"/>
            <a:ext cx="3744913" cy="107445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lnSpc>
                <a:spcPct val="121000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+mn-lt"/>
                <a:ea typeface="Noto Sans" panose="020B0502040504020204" pitchFamily="34" charset="0"/>
                <a:cs typeface="Noto Sans" panose="020B0502040504020204" pitchFamily="34" charset="0"/>
              </a:defRPr>
            </a:lvl1pPr>
          </a:lstStyle>
          <a:p>
            <a:pPr lvl="0"/>
            <a:r>
              <a:rPr lang="de-AT" dirty="0" err="1"/>
              <a:t>Universitaetsstrasse</a:t>
            </a:r>
            <a:r>
              <a:rPr lang="de-AT" dirty="0"/>
              <a:t> 15</a:t>
            </a:r>
            <a:br>
              <a:rPr lang="de-AT" dirty="0"/>
            </a:br>
            <a:r>
              <a:rPr lang="de-AT" dirty="0"/>
              <a:t>A-6020 Innsbruck</a:t>
            </a:r>
            <a:br>
              <a:rPr lang="de-AT" dirty="0"/>
            </a:br>
            <a:r>
              <a:rPr lang="de-AT" dirty="0"/>
              <a:t>+43 512 2070</a:t>
            </a:r>
            <a:br>
              <a:rPr lang="de-AT" dirty="0"/>
            </a:br>
            <a:r>
              <a:rPr lang="de-AT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office@mci.edu</a:t>
            </a:r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41FF372-DA9E-4EC7-843D-BE619D8CF7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bg1"/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4259827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F1DB1176-0CF2-4531-9F14-57988F736C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5208" y="5057323"/>
            <a:ext cx="8166415" cy="12572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Noto Sans" panose="020B0502040504020204" pitchFamily="34"/>
                <a:ea typeface="Noto Sans" panose="020B0502040504020204" pitchFamily="34"/>
                <a:cs typeface="Noto Sans" panose="020B0502040504020204" pitchFamily="34"/>
              </a:defRPr>
            </a:lvl1pPr>
          </a:lstStyle>
          <a:p>
            <a:r>
              <a:rPr lang="en-US" dirty="0"/>
              <a:t>Student presentation - no official MCI presentation</a:t>
            </a:r>
          </a:p>
        </p:txBody>
      </p:sp>
    </p:spTree>
    <p:extLst>
      <p:ext uri="{BB962C8B-B14F-4D97-AF65-F5344CB8AC3E}">
        <p14:creationId xmlns:p14="http://schemas.microsoft.com/office/powerpoint/2010/main" val="184657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7" r:id="rId2"/>
    <p:sldLayoutId id="2147483672" r:id="rId3"/>
    <p:sldLayoutId id="2147483662" r:id="rId4"/>
    <p:sldLayoutId id="2147483671" r:id="rId5"/>
    <p:sldLayoutId id="2147483663" r:id="rId6"/>
    <p:sldLayoutId id="2147483664" r:id="rId7"/>
    <p:sldLayoutId id="2147483667" r:id="rId8"/>
    <p:sldLayoutId id="2147483673" r:id="rId9"/>
    <p:sldLayoutId id="2147483669" r:id="rId10"/>
    <p:sldLayoutId id="2147483674" r:id="rId11"/>
    <p:sldLayoutId id="2147483670" r:id="rId12"/>
    <p:sldLayoutId id="2147483675" r:id="rId13"/>
    <p:sldLayoutId id="2147483676" r:id="rId14"/>
  </p:sldLayoutIdLst>
  <p:hf sldNum="0"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0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8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5.png"/><Relationship Id="rId5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C9968E78-CD6C-D513-1F47-CE5D5402C8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AT" dirty="0"/>
              <a:t>Modelling and Control </a:t>
            </a:r>
            <a:r>
              <a:rPr lang="de-AT" dirty="0" err="1"/>
              <a:t>of</a:t>
            </a:r>
            <a:r>
              <a:rPr lang="de-AT" dirty="0"/>
              <a:t> a </a:t>
            </a:r>
            <a:r>
              <a:rPr lang="de-AT" dirty="0" err="1"/>
              <a:t>Quadcopter</a:t>
            </a:r>
            <a:endParaRPr lang="de-AT" dirty="0"/>
          </a:p>
          <a:p>
            <a:r>
              <a:rPr lang="de-AT" sz="2000" dirty="0" err="1"/>
              <a:t>Advanced</a:t>
            </a:r>
            <a:r>
              <a:rPr lang="de-AT" sz="2000" dirty="0"/>
              <a:t> Control Engineering 2 Project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2C42D4-9CC6-0BC6-6544-182CBEB6C3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sz="1800" dirty="0"/>
              <a:t>Andreas Thöni | Samuel Peer</a:t>
            </a:r>
          </a:p>
        </p:txBody>
      </p:sp>
    </p:spTree>
    <p:extLst>
      <p:ext uri="{BB962C8B-B14F-4D97-AF65-F5344CB8AC3E}">
        <p14:creationId xmlns:p14="http://schemas.microsoft.com/office/powerpoint/2010/main" val="550326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731727-50CD-DE13-A831-BB898A504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Mathematical</a:t>
            </a:r>
            <a:r>
              <a:rPr lang="de-AT" dirty="0"/>
              <a:t> Model – Translational </a:t>
            </a:r>
            <a:r>
              <a:rPr lang="de-AT" dirty="0" err="1"/>
              <a:t>Kinematics</a:t>
            </a:r>
            <a:endParaRPr lang="de-AT" dirty="0"/>
          </a:p>
        </p:txBody>
      </p:sp>
      <p:pic>
        <p:nvPicPr>
          <p:cNvPr id="17" name="Inhaltsplatzhalter 16">
            <a:extLst>
              <a:ext uri="{FF2B5EF4-FFF2-40B4-BE49-F238E27FC236}">
                <a16:creationId xmlns:a16="http://schemas.microsoft.com/office/drawing/2014/main" id="{9CF8B7A1-1B49-B692-78BD-9AE33CA3DC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05910" y="958308"/>
            <a:ext cx="3819831" cy="3422568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A035578-14C5-B3ED-2287-3C3DE7B4AE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Student presentation - no official MCI presentation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51515A5A-D137-16E3-080F-54598BF09075}"/>
                  </a:ext>
                </a:extLst>
              </p:cNvPr>
              <p:cNvSpPr txBox="1"/>
              <p:nvPr/>
            </p:nvSpPr>
            <p:spPr>
              <a:xfrm>
                <a:off x="1175578" y="2636418"/>
                <a:ext cx="2364815" cy="288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bSup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de-AT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51515A5A-D137-16E3-080F-54598BF090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578" y="2636418"/>
                <a:ext cx="2364815" cy="288477"/>
              </a:xfrm>
              <a:prstGeom prst="rect">
                <a:avLst/>
              </a:prstGeom>
              <a:blipFill>
                <a:blip r:embed="rId4"/>
                <a:stretch>
                  <a:fillRect l="-773" t="-4167" r="-1031" b="-3125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73AECDF-8036-8AD4-0DDB-08209CC89921}"/>
                  </a:ext>
                </a:extLst>
              </p:cNvPr>
              <p:cNvSpPr txBox="1"/>
              <p:nvPr/>
            </p:nvSpPr>
            <p:spPr>
              <a:xfrm>
                <a:off x="1175578" y="3290351"/>
                <a:ext cx="2844112" cy="2884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𝜓</m:t>
                          </m:r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</m:oMath>
                  </m:oMathPara>
                </a14:m>
                <a:endParaRPr lang="de-AT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73AECDF-8036-8AD4-0DDB-08209CC899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5578" y="3290351"/>
                <a:ext cx="2844112" cy="288477"/>
              </a:xfrm>
              <a:prstGeom prst="rect">
                <a:avLst/>
              </a:prstGeom>
              <a:blipFill>
                <a:blip r:embed="rId5"/>
                <a:stretch>
                  <a:fillRect l="-644" t="-6383" r="-858" b="-34043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89702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ED1DB-390E-7CB2-ED37-16F54F10A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65DB639-46A2-BF0F-B782-C5A8651468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04758" y="957276"/>
            <a:ext cx="3820982" cy="34236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5628CC0-37EF-F8FC-C424-085C60761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Mathematical</a:t>
            </a:r>
            <a:r>
              <a:rPr lang="de-AT" dirty="0"/>
              <a:t> Model – </a:t>
            </a:r>
            <a:r>
              <a:rPr lang="de-AT" dirty="0" err="1"/>
              <a:t>Rotational</a:t>
            </a:r>
            <a:r>
              <a:rPr lang="de-AT" dirty="0"/>
              <a:t> </a:t>
            </a:r>
            <a:r>
              <a:rPr lang="de-AT" dirty="0" err="1"/>
              <a:t>Kinematics</a:t>
            </a:r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BDAC80A-1F38-37B0-A54B-78B5A6601F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Student presentation - no official MCI presentation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B1576974-D10A-1506-491C-AB351EE106A7}"/>
                  </a:ext>
                </a:extLst>
              </p:cNvPr>
              <p:cNvSpPr txBox="1"/>
              <p:nvPr/>
            </p:nvSpPr>
            <p:spPr>
              <a:xfrm>
                <a:off x="277826" y="2333727"/>
                <a:ext cx="4553682" cy="7887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AT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mr>
                          </m:m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AT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AT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AT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B1576974-D10A-1506-491C-AB351EE10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26" y="2333727"/>
                <a:ext cx="4553682" cy="78874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055D062-61F9-0FC4-8709-8E29C4F5E5E1}"/>
                  </a:ext>
                </a:extLst>
              </p:cNvPr>
              <p:cNvSpPr txBox="1"/>
              <p:nvPr/>
            </p:nvSpPr>
            <p:spPr>
              <a:xfrm>
                <a:off x="618260" y="3519906"/>
                <a:ext cx="4013150" cy="108292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AT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de-AT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AT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de-AT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AT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de-AT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AT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𝜓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AT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AT" b="0" i="0" smtClean="0">
                                        <a:latin typeface="Cambria Math" panose="02040503050406030204" pitchFamily="18" charset="0"/>
                                      </a:rPr>
                                      <m:t>tan</m:t>
                                    </m:r>
                                  </m:fName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  <m:e>
                                <m:func>
                                  <m:funcPr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AT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func>
                                <m:func>
                                  <m:funcPr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AT" b="0" i="0" smtClean="0">
                                        <a:latin typeface="Cambria Math" panose="02040503050406030204" pitchFamily="18" charset="0"/>
                                      </a:rPr>
                                      <m:t>tan</m:t>
                                    </m:r>
                                  </m:fName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unc>
                                  <m:funcPr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AT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func>
                              </m:e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unc>
                                  <m:funcPr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AT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𝜙</m:t>
                                    </m:r>
                                  </m:e>
                                </m:func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func>
                                      <m:funcPr>
                                        <m:ctrlPr>
                                          <a:rPr lang="de-AT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de-AT" b="0" i="0" smtClean="0">
                                            <a:latin typeface="Cambria Math" panose="02040503050406030204" pitchFamily="18" charset="0"/>
                                          </a:rPr>
                                          <m:t>sin</m:t>
                                        </m:r>
                                      </m:fName>
                                      <m:e>
                                        <m:r>
                                          <a:rPr lang="de-AT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</m:func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de-AT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de-AT" b="0" i="0" smtClean="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de-AT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func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func>
                                      <m:funcPr>
                                        <m:ctrlPr>
                                          <a:rPr lang="de-AT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de-AT" i="0" smtClean="0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de-AT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𝜙</m:t>
                                        </m:r>
                                      </m:e>
                                    </m:func>
                                  </m:num>
                                  <m:den>
                                    <m:func>
                                      <m:funcPr>
                                        <m:ctrlPr>
                                          <a:rPr lang="de-AT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de-AT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r>
                                          <a:rPr lang="de-AT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</m:func>
                                  </m:den>
                                </m:f>
                              </m:e>
                            </m:mr>
                          </m:m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AT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4055D062-61F9-0FC4-8709-8E29C4F5E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260" y="3519906"/>
                <a:ext cx="4013150" cy="108292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0615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500D9-1F42-ACBD-4928-D66483A91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BB0C4FC2-3206-458F-2708-CEC4EBB3D3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04758" y="957276"/>
            <a:ext cx="3820982" cy="34235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E20BAB2-9869-A5E3-9982-4E45A708F0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Mathematical</a:t>
            </a:r>
            <a:r>
              <a:rPr lang="de-AT" dirty="0"/>
              <a:t> Model – Translational Dynamics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04CF02-E68A-904B-0387-420AAA2098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Student presentation - no official MCI presentation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725B79D1-5CA7-10E0-AC07-ED08495046B4}"/>
                  </a:ext>
                </a:extLst>
              </p:cNvPr>
              <p:cNvSpPr txBox="1"/>
              <p:nvPr/>
            </p:nvSpPr>
            <p:spPr>
              <a:xfrm>
                <a:off x="981940" y="1501486"/>
                <a:ext cx="2487219" cy="3599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̈"/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g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−</m:t>
                      </m:r>
                      <m:sSubSup>
                        <m:sSub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d>
                            <m:d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sup>
                      </m:sSubSup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</m:oMath>
                  </m:oMathPara>
                </a14:m>
                <a:endParaRPr lang="de-AT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725B79D1-5CA7-10E0-AC07-ED0849504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40" y="1501486"/>
                <a:ext cx="2487219" cy="359907"/>
              </a:xfrm>
              <a:prstGeom prst="rect">
                <a:avLst/>
              </a:prstGeom>
              <a:blipFill>
                <a:blip r:embed="rId4"/>
                <a:stretch>
                  <a:fillRect l="-735" r="-490" b="-1694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98CD3DEE-CFD1-2BA1-C8D8-09AFD25B5874}"/>
                  </a:ext>
                </a:extLst>
              </p:cNvPr>
              <p:cNvSpPr txBox="1"/>
              <p:nvPr/>
            </p:nvSpPr>
            <p:spPr>
              <a:xfrm>
                <a:off x="981940" y="4197392"/>
                <a:ext cx="1682832" cy="7776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p>
                      </m:sSubSup>
                      <m:nary>
                        <m:naryPr>
                          <m:chr m:val="∑"/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brk m:alnAt="23"/>
                            </m:rPr>
                            <a:rPr lang="de-AT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  <m:e>
                          <m:sSub>
                            <m:sSub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de-AT" dirty="0"/>
              </a:p>
            </p:txBody>
          </p:sp>
        </mc:Choice>
        <mc:Fallback xmlns="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98CD3DEE-CFD1-2BA1-C8D8-09AFD25B58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40" y="4197392"/>
                <a:ext cx="1682832" cy="77764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7FFD2960-70F8-3700-3AB7-33AADC0FBDB4}"/>
                  </a:ext>
                </a:extLst>
              </p:cNvPr>
              <p:cNvSpPr txBox="1"/>
              <p:nvPr/>
            </p:nvSpPr>
            <p:spPr>
              <a:xfrm>
                <a:off x="981940" y="2118110"/>
                <a:ext cx="3048079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̈"/>
                            <m:ctrlPr>
                              <a:rPr lang="de-AT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AT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e>
                      <m:sup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de-AT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  <m:r>
                      <a:rPr lang="de-AT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AT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p>
                                <m:sSupPr>
                                  <m:ctrlP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de-A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AT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de-A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AT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  <m:mr>
                            <m:e>
                              <m:sSup>
                                <m:sSupPr>
                                  <m:ctrlP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̈"/>
                                      <m:ctrlPr>
                                        <a:rPr lang="de-A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de-AT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p>
                            </m:e>
                          </m:mr>
                        </m:m>
                      </m:e>
                    </m:d>
                  </m:oMath>
                </a14:m>
                <a:r>
                  <a:rPr lang="de-AT" dirty="0"/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A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AT">
                            <a:latin typeface="Cambria Math" panose="02040503050406030204" pitchFamily="18" charset="0"/>
                          </a:rPr>
                          <m:t>g</m:t>
                        </m:r>
                      </m:sub>
                    </m:sSub>
                    <m:r>
                      <a:rPr lang="de-AT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de-A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de-AT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de-AT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7FFD2960-70F8-3700-3AB7-33AADC0FB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40" y="2118110"/>
                <a:ext cx="3048079" cy="880369"/>
              </a:xfrm>
              <a:prstGeom prst="rect">
                <a:avLst/>
              </a:prstGeom>
              <a:blipFill>
                <a:blip r:embed="rId6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5308BC-FF69-5638-7623-C27F540FF830}"/>
                  </a:ext>
                </a:extLst>
              </p:cNvPr>
              <p:cNvSpPr txBox="1"/>
              <p:nvPr/>
            </p:nvSpPr>
            <p:spPr>
              <a:xfrm>
                <a:off x="981940" y="3234742"/>
                <a:ext cx="2977225" cy="88036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AT" b="0" i="0" smtClean="0">
                                        <a:latin typeface="Cambria Math" panose="02040503050406030204" pitchFamily="18" charset="0"/>
                                      </a:rPr>
                                      <m:t>dx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AT">
                                        <a:latin typeface="Cambria Math" panose="02040503050406030204" pitchFamily="18" charset="0"/>
                                      </a:rPr>
                                      <m:t>d</m:t>
                                    </m:r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de-AT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de-AT">
                                        <a:latin typeface="Cambria Math" panose="02040503050406030204" pitchFamily="18" charset="0"/>
                                      </a:rPr>
                                      <m:t>d</m:t>
                                    </m:r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de-AT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AT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de-AT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de-AT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AT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acc>
                                      <m:accPr>
                                        <m:chr m:val="̇"/>
                                        <m:ctrlPr>
                                          <a:rPr lang="de-AT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de-AT" b="0" i="1" smtClean="0">
                                            <a:latin typeface="Cambria Math" panose="02040503050406030204" pitchFamily="18" charset="0"/>
                                          </a:rPr>
                                          <m:t>𝑧</m:t>
                                        </m:r>
                                      </m:e>
                                    </m:acc>
                                  </m:e>
                                  <m:sup>
                                    <m: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de-AT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de-AT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045308BC-FF69-5638-7623-C27F540FF8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40" y="3234742"/>
                <a:ext cx="2977225" cy="88036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12CBAB9-0710-4E78-3D19-E742A94CBFBF}"/>
                  </a:ext>
                </a:extLst>
              </p:cNvPr>
              <p:cNvSpPr txBox="1"/>
              <p:nvPr/>
            </p:nvSpPr>
            <p:spPr>
              <a:xfrm>
                <a:off x="6615249" y="1501486"/>
                <a:ext cx="10706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AT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12CBAB9-0710-4E78-3D19-E742A94CB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5249" y="1501486"/>
                <a:ext cx="1070613" cy="276999"/>
              </a:xfrm>
              <a:prstGeom prst="rect">
                <a:avLst/>
              </a:prstGeom>
              <a:blipFill>
                <a:blip r:embed="rId8"/>
                <a:stretch>
                  <a:fillRect l="-3977" r="-568" b="-17391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679694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58143-864A-5769-FFFB-484A24161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0DE7EE46-1534-208A-6FB7-FD7F86961D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04758" y="957276"/>
            <a:ext cx="3820981" cy="34235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3910FAA3-F7CA-2BF7-A6F6-C7CA24ADC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Mathematical</a:t>
            </a:r>
            <a:r>
              <a:rPr lang="de-AT" dirty="0"/>
              <a:t> Model – </a:t>
            </a:r>
            <a:r>
              <a:rPr lang="de-AT" dirty="0" err="1"/>
              <a:t>Rotational</a:t>
            </a:r>
            <a:r>
              <a:rPr lang="de-AT" dirty="0"/>
              <a:t> Dynamics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FBFCB7C-DFBA-0CC7-7932-86174C2E76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Student presentation - no official MCI presentation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66EB5AE4-8451-B06B-119A-B9DE1C8FEF9E}"/>
                  </a:ext>
                </a:extLst>
              </p:cNvPr>
              <p:cNvSpPr txBox="1"/>
              <p:nvPr/>
            </p:nvSpPr>
            <p:spPr>
              <a:xfrm>
                <a:off x="246191" y="1517570"/>
                <a:ext cx="4366067" cy="3281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̇"/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acc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d>
                            <m:d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de-A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gyro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control</m:t>
                          </m:r>
                        </m:sub>
                      </m:sSub>
                    </m:oMath>
                  </m:oMathPara>
                </a14:m>
                <a:endParaRPr lang="de-AT" dirty="0"/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66EB5AE4-8451-B06B-119A-B9DE1C8FEF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191" y="1517570"/>
                <a:ext cx="4366067" cy="328103"/>
              </a:xfrm>
              <a:prstGeom prst="rect">
                <a:avLst/>
              </a:prstGeom>
              <a:blipFill>
                <a:blip r:embed="rId4"/>
                <a:stretch>
                  <a:fillRect l="-697" b="-1851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82B811B-8DA4-575C-820A-EA1EC1D1474E}"/>
                  </a:ext>
                </a:extLst>
              </p:cNvPr>
              <p:cNvSpPr txBox="1"/>
              <p:nvPr/>
            </p:nvSpPr>
            <p:spPr>
              <a:xfrm>
                <a:off x="511511" y="4069281"/>
                <a:ext cx="254479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Ω</m:t>
                      </m:r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282B811B-8DA4-575C-820A-EA1EC1D147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511" y="4069281"/>
                <a:ext cx="2544799" cy="276999"/>
              </a:xfrm>
              <a:prstGeom prst="rect">
                <a:avLst/>
              </a:prstGeom>
              <a:blipFill>
                <a:blip r:embed="rId5"/>
                <a:stretch>
                  <a:fillRect l="-480" b="-15556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B830459-8800-7A01-6D9F-F1274CF9457F}"/>
                  </a:ext>
                </a:extLst>
              </p:cNvPr>
              <p:cNvSpPr txBox="1"/>
              <p:nvPr/>
            </p:nvSpPr>
            <p:spPr>
              <a:xfrm>
                <a:off x="477838" y="2280657"/>
                <a:ext cx="1907445" cy="2807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B830459-8800-7A01-6D9F-F1274CF94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38" y="2280657"/>
                <a:ext cx="1907445" cy="280718"/>
              </a:xfrm>
              <a:prstGeom prst="rect">
                <a:avLst/>
              </a:prstGeom>
              <a:blipFill>
                <a:blip r:embed="rId6"/>
                <a:stretch>
                  <a:fillRect l="-1278" b="-17391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32382C9-6514-B520-FB3B-583E96AD11C0}"/>
                  </a:ext>
                </a:extLst>
              </p:cNvPr>
              <p:cNvSpPr txBox="1"/>
              <p:nvPr/>
            </p:nvSpPr>
            <p:spPr>
              <a:xfrm>
                <a:off x="445208" y="2802219"/>
                <a:ext cx="1979901" cy="3246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y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32382C9-6514-B520-FB3B-583E96AD11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08" y="2802219"/>
                <a:ext cx="1979901" cy="324641"/>
              </a:xfrm>
              <a:prstGeom prst="rect">
                <a:avLst/>
              </a:prstGeom>
              <a:blipFill>
                <a:blip r:embed="rId7"/>
                <a:stretch>
                  <a:fillRect b="-15094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8191A1C-C0B0-D315-E504-CA1DBABEDCA6}"/>
                  </a:ext>
                </a:extLst>
              </p:cNvPr>
              <p:cNvSpPr txBox="1"/>
              <p:nvPr/>
            </p:nvSpPr>
            <p:spPr>
              <a:xfrm>
                <a:off x="477838" y="3358238"/>
                <a:ext cx="2889445" cy="2821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z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78191A1C-C0B0-D315-E504-CA1DBABEDC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38" y="3358238"/>
                <a:ext cx="2889445" cy="282129"/>
              </a:xfrm>
              <a:prstGeom prst="rect">
                <a:avLst/>
              </a:prstGeom>
              <a:blipFill>
                <a:blip r:embed="rId8"/>
                <a:stretch>
                  <a:fillRect l="-633" b="-17391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9733C42-5ED1-69BA-20A1-69F9D567CA3D}"/>
                  </a:ext>
                </a:extLst>
              </p:cNvPr>
              <p:cNvSpPr txBox="1"/>
              <p:nvPr/>
            </p:nvSpPr>
            <p:spPr>
              <a:xfrm>
                <a:off x="6615249" y="1248682"/>
                <a:ext cx="10706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9733C42-5ED1-69BA-20A1-69F9D567C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5249" y="1248682"/>
                <a:ext cx="1070613" cy="276999"/>
              </a:xfrm>
              <a:prstGeom prst="rect">
                <a:avLst/>
              </a:prstGeom>
              <a:blipFill>
                <a:blip r:embed="rId9"/>
                <a:stretch>
                  <a:fillRect l="-3977" r="-568" b="-17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7514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23EB7-8263-09F0-891A-920394FD7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44DB11F-42E1-DE51-E4D8-D6555E7932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04758" y="957276"/>
            <a:ext cx="3820981" cy="342359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0A50081-E484-5A66-6226-0E78F1C8B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 err="1"/>
              <a:t>Mathematical</a:t>
            </a:r>
            <a:r>
              <a:rPr lang="de-AT" dirty="0"/>
              <a:t> Model – </a:t>
            </a:r>
            <a:r>
              <a:rPr lang="de-AT" dirty="0" err="1"/>
              <a:t>Rotational</a:t>
            </a:r>
            <a:r>
              <a:rPr lang="de-AT" dirty="0"/>
              <a:t> Dynamics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73FB26E-3898-9ECC-312C-593AB79241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Student presentation - no official MCI presentation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F850DEF7-7569-4F74-F7C3-D950EF284FA0}"/>
                  </a:ext>
                </a:extLst>
              </p:cNvPr>
              <p:cNvSpPr txBox="1"/>
              <p:nvPr/>
            </p:nvSpPr>
            <p:spPr>
              <a:xfrm>
                <a:off x="246191" y="1517570"/>
                <a:ext cx="4366067" cy="32810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acc>
                            <m:accPr>
                              <m:chr m:val="̇"/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acc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=−</m:t>
                      </m:r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d>
                            <m:d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</m:sup>
                      </m:sSup>
                      <m:r>
                        <a:rPr lang="de-A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de-A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de-AT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gyro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A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control</m:t>
                          </m:r>
                        </m:sub>
                      </m:sSub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F850DEF7-7569-4F74-F7C3-D950EF284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6191" y="1517570"/>
                <a:ext cx="4366067" cy="328103"/>
              </a:xfrm>
              <a:prstGeom prst="rect">
                <a:avLst/>
              </a:prstGeom>
              <a:blipFill>
                <a:blip r:embed="rId4"/>
                <a:stretch>
                  <a:fillRect l="-697" b="-18519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D88506D-286B-5BB8-FAD4-DF9CB9E531D6}"/>
                  </a:ext>
                </a:extLst>
              </p:cNvPr>
              <p:cNvSpPr txBox="1"/>
              <p:nvPr/>
            </p:nvSpPr>
            <p:spPr>
              <a:xfrm>
                <a:off x="6615249" y="1248682"/>
                <a:ext cx="107061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AT" b="0" i="0" smtClean="0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  <m:sup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D88506D-286B-5BB8-FAD4-DF9CB9E53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5249" y="1248682"/>
                <a:ext cx="1070613" cy="276999"/>
              </a:xfrm>
              <a:prstGeom prst="rect">
                <a:avLst/>
              </a:prstGeom>
              <a:blipFill>
                <a:blip r:embed="rId5"/>
                <a:stretch>
                  <a:fillRect l="-3977" r="-568" b="-17778"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FCA2631-EAF4-D97E-4CC7-581674AFFD42}"/>
                  </a:ext>
                </a:extLst>
              </p:cNvPr>
              <p:cNvSpPr txBox="1"/>
              <p:nvPr/>
            </p:nvSpPr>
            <p:spPr>
              <a:xfrm>
                <a:off x="477838" y="2282355"/>
                <a:ext cx="3961405" cy="5657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acc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 b="0" i="0" smtClean="0">
                                  <a:latin typeface="Cambria Math" panose="02040503050406030204" pitchFamily="18" charset="0"/>
                                </a:rPr>
                                <m:t>xx</m:t>
                              </m:r>
                            </m:sub>
                          </m:sSub>
                        </m:den>
                      </m:f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AT">
                                      <a:latin typeface="Cambria Math" panose="02040503050406030204" pitchFamily="18" charset="0"/>
                                    </a:rPr>
                                    <m:t>yy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AT">
                                      <a:latin typeface="Cambria Math" panose="02040503050406030204" pitchFamily="18" charset="0"/>
                                    </a:rPr>
                                    <m:t>zz</m:t>
                                  </m:r>
                                </m:sub>
                              </m:sSub>
                            </m:e>
                          </m:d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−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x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3" name="Textfeld 2">
                <a:extLst>
                  <a:ext uri="{FF2B5EF4-FFF2-40B4-BE49-F238E27FC236}">
                    <a16:creationId xmlns:a16="http://schemas.microsoft.com/office/drawing/2014/main" id="{BFCA2631-EAF4-D97E-4CC7-581674AFFD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38" y="2282355"/>
                <a:ext cx="3961405" cy="5657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6438A19-20CC-F8CE-C184-693BD0868349}"/>
                  </a:ext>
                </a:extLst>
              </p:cNvPr>
              <p:cNvSpPr txBox="1"/>
              <p:nvPr/>
            </p:nvSpPr>
            <p:spPr>
              <a:xfrm>
                <a:off x="477838" y="3050358"/>
                <a:ext cx="3840730" cy="6017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acc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 b="0" i="0" smtClean="0">
                                  <a:latin typeface="Cambria Math" panose="02040503050406030204" pitchFamily="18" charset="0"/>
                                </a:rPr>
                                <m:t>yy</m:t>
                              </m:r>
                            </m:sub>
                          </m:sSub>
                        </m:den>
                      </m:f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AT" b="0" i="0" smtClean="0">
                                      <a:latin typeface="Cambria Math" panose="02040503050406030204" pitchFamily="18" charset="0"/>
                                    </a:rPr>
                                    <m:t>zz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AT" b="0" i="0" smtClean="0">
                                      <a:latin typeface="Cambria Math" panose="02040503050406030204" pitchFamily="18" charset="0"/>
                                    </a:rPr>
                                    <m:t>xx</m:t>
                                  </m:r>
                                </m:sub>
                              </m:sSub>
                            </m:e>
                          </m:d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>
                                  <a:latin typeface="Cambria Math" panose="02040503050406030204" pitchFamily="18" charset="0"/>
                                </a:rPr>
                                <m:t>r</m:t>
                              </m:r>
                            </m:sub>
                          </m:sSub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  <m:r>
                            <a:rPr lang="de-A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 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y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6438A19-20CC-F8CE-C184-693BD0868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38" y="3050358"/>
                <a:ext cx="3840730" cy="60176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99A2E03-0FD8-F099-E838-797BF96115F8}"/>
                  </a:ext>
                </a:extLst>
              </p:cNvPr>
              <p:cNvSpPr txBox="1"/>
              <p:nvPr/>
            </p:nvSpPr>
            <p:spPr>
              <a:xfrm>
                <a:off x="477838" y="3854397"/>
                <a:ext cx="3038781" cy="5657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de-AT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 b="0" i="0" smtClean="0">
                                  <a:latin typeface="Cambria Math" panose="02040503050406030204" pitchFamily="18" charset="0"/>
                                </a:rPr>
                                <m:t>zz</m:t>
                              </m:r>
                            </m:sub>
                          </m:sSub>
                        </m:den>
                      </m:f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de-A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de-AT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AT" b="0" i="0" smtClean="0">
                                      <a:latin typeface="Cambria Math" panose="02040503050406030204" pitchFamily="18" charset="0"/>
                                    </a:rPr>
                                    <m:t>xx</m:t>
                                  </m:r>
                                </m:sub>
                              </m:sSub>
                              <m:r>
                                <a:rPr lang="de-AT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de-AT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AT" i="1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de-AT" b="0" i="0" smtClean="0">
                                      <a:latin typeface="Cambria Math" panose="02040503050406030204" pitchFamily="18" charset="0"/>
                                    </a:rPr>
                                    <m:t>yy</m:t>
                                  </m:r>
                                </m:sub>
                              </m:sSub>
                            </m:e>
                          </m:d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de-AT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AT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AT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de-AT" dirty="0"/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E99A2E03-0FD8-F099-E838-797BF9611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838" y="3854397"/>
                <a:ext cx="3038781" cy="5657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A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92279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825AD-7398-A4CB-B3AD-2388E2F9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332701-09E3-521D-C006-75DDD3877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320" y="2323104"/>
            <a:ext cx="8087360" cy="309167"/>
          </a:xfrm>
        </p:spPr>
        <p:txBody>
          <a:bodyPr/>
          <a:lstStyle/>
          <a:p>
            <a:pPr algn="ctr"/>
            <a:r>
              <a:rPr lang="de-AT" dirty="0"/>
              <a:t>Simulink </a:t>
            </a:r>
            <a:r>
              <a:rPr lang="de-AT" dirty="0" err="1"/>
              <a:t>implementation</a:t>
            </a:r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BCE852-5933-7639-C142-48E88F9F18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Student presentation - no official MCI 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40621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MCINEU">
      <a:dk1>
        <a:sysClr val="windowText" lastClr="000000"/>
      </a:dk1>
      <a:lt1>
        <a:sysClr val="window" lastClr="FFFFFF"/>
      </a:lt1>
      <a:dk2>
        <a:srgbClr val="004983"/>
      </a:dk2>
      <a:lt2>
        <a:srgbClr val="F49B00"/>
      </a:lt2>
      <a:accent1>
        <a:srgbClr val="004983"/>
      </a:accent1>
      <a:accent2>
        <a:srgbClr val="F49B00"/>
      </a:accent2>
      <a:accent3>
        <a:srgbClr val="004B51"/>
      </a:accent3>
      <a:accent4>
        <a:srgbClr val="4E7FA8"/>
      </a:accent4>
      <a:accent5>
        <a:srgbClr val="783F4F"/>
      </a:accent5>
      <a:accent6>
        <a:srgbClr val="CD943A"/>
      </a:accent6>
      <a:hlink>
        <a:srgbClr val="0000FF"/>
      </a:hlink>
      <a:folHlink>
        <a:srgbClr val="800080"/>
      </a:folHlink>
    </a:clrScheme>
    <a:fontScheme name="MCI">
      <a:majorFont>
        <a:latin typeface="Noto Sans SemiBold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325</Words>
  <Application>Microsoft Office PowerPoint</Application>
  <PresentationFormat>Bildschirmpräsentation (16:10)</PresentationFormat>
  <Paragraphs>44</Paragraphs>
  <Slides>7</Slides>
  <Notes>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Noto Sans</vt:lpstr>
      <vt:lpstr>Office</vt:lpstr>
      <vt:lpstr>PowerPoint-Präsentation</vt:lpstr>
      <vt:lpstr>Mathematical Model – Translational Kinematics</vt:lpstr>
      <vt:lpstr>Mathematical Model – Rotational Kinematics</vt:lpstr>
      <vt:lpstr>Mathematical Model – Translational Dynamics</vt:lpstr>
      <vt:lpstr>Mathematical Model – Rotational Dynamics</vt:lpstr>
      <vt:lpstr>Mathematical Model – Rotational Dynamics</vt:lpstr>
      <vt:lpstr>Simulink implementation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Martina Geir</dc:creator>
  <cp:lastModifiedBy>Andreas Thöni</cp:lastModifiedBy>
  <cp:revision>62</cp:revision>
  <dcterms:created xsi:type="dcterms:W3CDTF">2025-07-14T13:55:07Z</dcterms:created>
  <dcterms:modified xsi:type="dcterms:W3CDTF">2026-06-04T17:18:11Z</dcterms:modified>
</cp:coreProperties>
</file>