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9" r:id="rId2"/>
    <p:sldId id="260" r:id="rId3"/>
    <p:sldId id="265" r:id="rId4"/>
    <p:sldId id="266" r:id="rId5"/>
    <p:sldId id="267" r:id="rId6"/>
    <p:sldId id="268" r:id="rId7"/>
    <p:sldId id="261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36159-3613-4120-BFA1-012C9383E012}" type="datetimeFigureOut">
              <a:rPr lang="de-DE" smtClean="0"/>
              <a:t>08.06.2026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65AC9-19C0-4845-80EF-46F2659078D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6526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State variables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velocity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in </a:t>
            </a:r>
            <a:r>
              <a:rPr lang="de-AT" dirty="0" err="1"/>
              <a:t>body</a:t>
            </a:r>
            <a:r>
              <a:rPr lang="de-AT" dirty="0"/>
              <a:t> frame, </a:t>
            </a:r>
            <a:r>
              <a:rPr lang="de-AT" dirty="0" err="1"/>
              <a:t>state</a:t>
            </a:r>
            <a:r>
              <a:rPr lang="de-AT" dirty="0"/>
              <a:t> variables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position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in global frame.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65AC9-19C0-4845-80EF-46F2659078DC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7572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C7DB-D397-AB6E-BF99-17EFD477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63F142B-709F-229A-E72F-8ACDD4FC6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1D872FA-DF59-E7DD-CA75-54B7AEB3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Angular </a:t>
            </a:r>
            <a:r>
              <a:rPr lang="de-AT" dirty="0" err="1"/>
              <a:t>rates</a:t>
            </a:r>
            <a:r>
              <a:rPr lang="de-AT" dirty="0"/>
              <a:t> </a:t>
            </a:r>
            <a:r>
              <a:rPr lang="de-AT" dirty="0" err="1"/>
              <a:t>defined</a:t>
            </a:r>
            <a:r>
              <a:rPr lang="de-AT" dirty="0"/>
              <a:t> in </a:t>
            </a:r>
            <a:r>
              <a:rPr lang="de-AT" dirty="0" err="1"/>
              <a:t>body</a:t>
            </a:r>
            <a:r>
              <a:rPr lang="de-AT" dirty="0"/>
              <a:t> frame, </a:t>
            </a:r>
            <a:r>
              <a:rPr lang="de-AT" dirty="0" err="1"/>
              <a:t>euler</a:t>
            </a:r>
            <a:r>
              <a:rPr lang="de-AT" dirty="0"/>
              <a:t> </a:t>
            </a:r>
            <a:r>
              <a:rPr lang="de-AT" dirty="0" err="1"/>
              <a:t>angles</a:t>
            </a:r>
            <a:r>
              <a:rPr lang="de-AT" dirty="0"/>
              <a:t> </a:t>
            </a:r>
            <a:r>
              <a:rPr lang="de-AT" dirty="0" err="1"/>
              <a:t>defined</a:t>
            </a:r>
            <a:r>
              <a:rPr lang="de-AT" dirty="0"/>
              <a:t> in intermediate </a:t>
            </a:r>
            <a:r>
              <a:rPr lang="de-AT" dirty="0" err="1"/>
              <a:t>coordinate</a:t>
            </a:r>
            <a:r>
              <a:rPr lang="de-AT" dirty="0"/>
              <a:t> </a:t>
            </a:r>
            <a:r>
              <a:rPr lang="de-AT" dirty="0" err="1"/>
              <a:t>frames</a:t>
            </a:r>
            <a:r>
              <a:rPr lang="de-AT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909C4F-3E8D-32E3-B83E-696775F64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65AC9-19C0-4845-80EF-46F2659078DC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6256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38A2-212C-F6C9-66D1-1EA4F696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C243BFA-B7BC-1FBB-8CAC-286805908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78AACE6-78C7-0111-A5C1-F29C70E56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Linear EOM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defined</a:t>
            </a:r>
            <a:r>
              <a:rPr lang="de-AT" dirty="0"/>
              <a:t> in global </a:t>
            </a:r>
            <a:r>
              <a:rPr lang="de-AT" dirty="0" err="1"/>
              <a:t>reference</a:t>
            </a:r>
            <a:r>
              <a:rPr lang="de-AT" dirty="0"/>
              <a:t> frame. </a:t>
            </a:r>
            <a:r>
              <a:rPr lang="de-AT" dirty="0" err="1"/>
              <a:t>Acc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quadrotor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equal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sum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force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gravity</a:t>
            </a:r>
            <a:r>
              <a:rPr lang="de-AT" dirty="0"/>
              <a:t>, </a:t>
            </a:r>
            <a:r>
              <a:rPr lang="de-AT" dirty="0" err="1"/>
              <a:t>thrust</a:t>
            </a:r>
            <a:r>
              <a:rPr lang="de-AT" dirty="0"/>
              <a:t> </a:t>
            </a:r>
            <a:r>
              <a:rPr lang="de-AT" dirty="0" err="1"/>
              <a:t>force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motors</a:t>
            </a:r>
            <a:r>
              <a:rPr lang="de-AT" dirty="0"/>
              <a:t> and linear </a:t>
            </a:r>
            <a:r>
              <a:rPr lang="de-AT" dirty="0" err="1"/>
              <a:t>friction</a:t>
            </a:r>
            <a:r>
              <a:rPr lang="de-AT" dirty="0"/>
              <a:t> </a:t>
            </a:r>
            <a:r>
              <a:rPr lang="de-AT" dirty="0" err="1"/>
              <a:t>force</a:t>
            </a:r>
            <a:r>
              <a:rPr lang="de-AT" dirty="0"/>
              <a:t> </a:t>
            </a:r>
            <a:r>
              <a:rPr lang="de-AT" dirty="0" err="1"/>
              <a:t>leading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drag</a:t>
            </a:r>
            <a:r>
              <a:rPr lang="de-AT" dirty="0"/>
              <a:t>. The </a:t>
            </a:r>
            <a:r>
              <a:rPr lang="de-AT" dirty="0" err="1"/>
              <a:t>thrust</a:t>
            </a:r>
            <a:r>
              <a:rPr lang="de-AT" dirty="0"/>
              <a:t> </a:t>
            </a:r>
            <a:r>
              <a:rPr lang="de-AT" dirty="0" err="1"/>
              <a:t>vector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frame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transformed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global frame </a:t>
            </a:r>
            <a:r>
              <a:rPr lang="de-AT" dirty="0" err="1"/>
              <a:t>using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rotation</a:t>
            </a:r>
            <a:r>
              <a:rPr lang="de-AT" dirty="0"/>
              <a:t> </a:t>
            </a:r>
            <a:r>
              <a:rPr lang="de-AT" dirty="0" err="1"/>
              <a:t>matrix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two</a:t>
            </a:r>
            <a:r>
              <a:rPr lang="de-AT" dirty="0"/>
              <a:t> </a:t>
            </a:r>
            <a:r>
              <a:rPr lang="de-AT" dirty="0" err="1"/>
              <a:t>slides</a:t>
            </a:r>
            <a:r>
              <a:rPr lang="de-AT" dirty="0"/>
              <a:t> </a:t>
            </a:r>
            <a:r>
              <a:rPr lang="de-AT" dirty="0" err="1"/>
              <a:t>before</a:t>
            </a:r>
            <a:r>
              <a:rPr lang="de-AT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753B18-177D-D2E2-CE25-AF5C55309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65AC9-19C0-4845-80EF-46F2659078DC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964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5B21-B5A1-37F5-48C8-302F15EE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23CA69F-4D7E-2ECC-28E2-E51EFF7B8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9A7722-D3E9-F7DB-5577-B2B24E390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Translational </a:t>
            </a:r>
            <a:r>
              <a:rPr lang="de-AT" dirty="0" err="1"/>
              <a:t>dynamics</a:t>
            </a:r>
            <a:r>
              <a:rPr lang="de-AT" dirty="0"/>
              <a:t> in </a:t>
            </a:r>
            <a:r>
              <a:rPr lang="de-AT" dirty="0" err="1"/>
              <a:t>world</a:t>
            </a:r>
            <a:r>
              <a:rPr lang="de-AT" dirty="0"/>
              <a:t> frame, </a:t>
            </a:r>
            <a:r>
              <a:rPr lang="de-AT" dirty="0" err="1"/>
              <a:t>rotational</a:t>
            </a:r>
            <a:r>
              <a:rPr lang="de-AT" dirty="0"/>
              <a:t> </a:t>
            </a:r>
            <a:r>
              <a:rPr lang="de-AT" dirty="0" err="1"/>
              <a:t>dynamics</a:t>
            </a:r>
            <a:r>
              <a:rPr lang="de-AT" dirty="0"/>
              <a:t> in </a:t>
            </a:r>
            <a:r>
              <a:rPr lang="de-AT" dirty="0" err="1"/>
              <a:t>body</a:t>
            </a:r>
            <a:r>
              <a:rPr lang="de-AT" dirty="0"/>
              <a:t> frame. </a:t>
            </a:r>
            <a:r>
              <a:rPr lang="de-AT" dirty="0" err="1"/>
              <a:t>Rotational</a:t>
            </a:r>
            <a:r>
              <a:rPr lang="de-AT" dirty="0"/>
              <a:t> </a:t>
            </a:r>
            <a:r>
              <a:rPr lang="de-AT" dirty="0" err="1"/>
              <a:t>physics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translated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world</a:t>
            </a:r>
            <a:r>
              <a:rPr lang="de-AT" dirty="0"/>
              <a:t> via </a:t>
            </a:r>
            <a:r>
              <a:rPr lang="de-AT" dirty="0" err="1"/>
              <a:t>matrix</a:t>
            </a:r>
            <a:r>
              <a:rPr lang="de-AT" dirty="0"/>
              <a:t> on </a:t>
            </a:r>
            <a:r>
              <a:rPr lang="de-AT" dirty="0" err="1"/>
              <a:t>slide</a:t>
            </a:r>
            <a:r>
              <a:rPr lang="de-AT" dirty="0"/>
              <a:t> </a:t>
            </a:r>
            <a:r>
              <a:rPr lang="de-AT" dirty="0" err="1"/>
              <a:t>rotational</a:t>
            </a:r>
            <a:r>
              <a:rPr lang="de-AT" dirty="0"/>
              <a:t> </a:t>
            </a:r>
            <a:r>
              <a:rPr lang="de-AT" dirty="0" err="1"/>
              <a:t>kinematics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E3053C-3ED4-F040-CDEF-33C7848A4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65AC9-19C0-4845-80EF-46F2659078DC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6322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2E92-E983-871D-DFC4-339C7F9F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F06029B-C54B-9CF1-D9E0-8C30D251B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EB29F1-35E6-8447-9473-9C9484BD3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59ACF6-1FA0-F5E8-8DAE-EE54651F4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65AC9-19C0-4845-80EF-46F2659078DC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1873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mailto:office@mci.edu" TargetMode="External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7A639B91-ADF9-4E37-9944-553567CD9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820" y="472535"/>
            <a:ext cx="6071305" cy="8790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a two-line headline</a:t>
            </a:r>
          </a:p>
          <a:p>
            <a:r>
              <a:rPr lang="en-US" noProof="0" dirty="0"/>
              <a:t>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14461B-C70D-4B56-96BB-74CCBD66FD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4610857"/>
            <a:ext cx="3744913" cy="734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Author| course title or equivalent can be added here</a:t>
            </a:r>
          </a:p>
        </p:txBody>
      </p:sp>
    </p:spTree>
    <p:extLst>
      <p:ext uri="{BB962C8B-B14F-4D97-AF65-F5344CB8AC3E}">
        <p14:creationId xmlns:p14="http://schemas.microsoft.com/office/powerpoint/2010/main" val="25576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7A639B91-ADF9-4E37-9944-553567CD9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820" y="472535"/>
            <a:ext cx="6071305" cy="8790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a two-line headline</a:t>
            </a:r>
          </a:p>
          <a:p>
            <a:r>
              <a:rPr lang="en-US" noProof="0" dirty="0"/>
              <a:t>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78B448-F893-4216-85CC-AA17EE205D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4610857"/>
            <a:ext cx="3744913" cy="734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Author| course title or equivalent can be added here</a:t>
            </a:r>
          </a:p>
        </p:txBody>
      </p:sp>
    </p:spTree>
    <p:extLst>
      <p:ext uri="{BB962C8B-B14F-4D97-AF65-F5344CB8AC3E}">
        <p14:creationId xmlns:p14="http://schemas.microsoft.com/office/powerpoint/2010/main" val="985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cour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8AB89B8-54A3-4FA8-AD3D-E447902B7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048"/>
            <a:ext cx="9144000" cy="571804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7A639B91-ADF9-4E37-9944-553567CD9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820" y="472535"/>
            <a:ext cx="6071305" cy="8790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a two-line headline</a:t>
            </a:r>
          </a:p>
          <a:p>
            <a:r>
              <a:rPr lang="en-US" noProof="0" dirty="0"/>
              <a:t>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78B448-F893-4216-85CC-AA17EE205D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4610857"/>
            <a:ext cx="3744913" cy="734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Author| course title or equivalent can be added here</a:t>
            </a:r>
          </a:p>
        </p:txBody>
      </p:sp>
    </p:spTree>
    <p:extLst>
      <p:ext uri="{BB962C8B-B14F-4D97-AF65-F5344CB8AC3E}">
        <p14:creationId xmlns:p14="http://schemas.microsoft.com/office/powerpoint/2010/main" val="3114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6AE3C9E-F15A-4C15-A493-03237F70A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9D532F1-2738-41DF-A050-608FA5A278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16"/>
            <a:ext cx="8087360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F36D88-9EA8-41AF-8CEE-91F66619E8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233232"/>
            <a:ext cx="8071874" cy="3856293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lnSpc>
                <a:spcPct val="121000"/>
              </a:lnSpc>
              <a:spcBef>
                <a:spcPts val="0"/>
              </a:spcBef>
              <a:buFont typeface="+mj-lt"/>
              <a:buAutoNum type="arabicPeriod"/>
              <a:defRPr sz="1600" b="0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42900" indent="0">
              <a:buFont typeface="+mj-lt"/>
              <a:buNone/>
              <a:defRPr b="0" i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</a:lstStyle>
          <a:p>
            <a:pPr lvl="0"/>
            <a:r>
              <a:rPr lang="en-US" noProof="0" dirty="0"/>
              <a:t>point 1</a:t>
            </a:r>
          </a:p>
          <a:p>
            <a:pPr lvl="0"/>
            <a:r>
              <a:rPr lang="en-US" noProof="0" dirty="0"/>
              <a:t>point 2</a:t>
            </a:r>
          </a:p>
          <a:p>
            <a:pPr lvl="0"/>
            <a:r>
              <a:rPr lang="en-US" noProof="0" dirty="0"/>
              <a:t>point 3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8CA4C1-155B-4139-B6FB-44B967412974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155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BDE91BB-1874-40FB-BF37-9ECD12BE9C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E25168-A22B-45F9-81C9-AAA0A8483B40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3AAD3E-04F7-46F8-BCAA-9C3A9121D5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177701"/>
            <a:ext cx="3744913" cy="3276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Chapter XX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A1054CE-6247-4410-8F39-6F06FD1B7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820" y="1874469"/>
            <a:ext cx="6071305" cy="28883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Chapter </a:t>
            </a:r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6754B90-6B59-440D-97C0-6E6E9B5EA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3675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C24E76-DB01-4F9B-A3AC-7E65837F7552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EA2FE1-A577-489C-98FF-223D5D3DB8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16"/>
            <a:ext cx="8087360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B9DF61-78D2-4B4B-A444-99F049B9D8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213658"/>
            <a:ext cx="3744913" cy="3654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1000"/>
              </a:lnSpc>
              <a:spcBef>
                <a:spcPts val="0"/>
              </a:spcBef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Bullet point 1</a:t>
            </a:r>
          </a:p>
          <a:p>
            <a:pPr lvl="0"/>
            <a:r>
              <a:rPr lang="en-US" noProof="0" dirty="0"/>
              <a:t>Bullet point 2</a:t>
            </a:r>
          </a:p>
          <a:p>
            <a:pPr lvl="0"/>
            <a:r>
              <a:rPr lang="en-US" noProof="0" dirty="0"/>
              <a:t>Bullet point 3</a:t>
            </a:r>
          </a:p>
          <a:p>
            <a:pPr lvl="0"/>
            <a:r>
              <a:rPr lang="en-US" noProof="0" dirty="0"/>
              <a:t>Bullet point …</a:t>
            </a:r>
          </a:p>
          <a:p>
            <a:pPr lvl="0"/>
            <a:endParaRPr lang="en-US" dirty="0"/>
          </a:p>
          <a:p>
            <a:pPr lvl="0"/>
            <a:endParaRPr lang="de-DE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7094E5-21AE-4BE5-A259-BE7A96ACD86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859339" y="1213658"/>
            <a:ext cx="3744912" cy="3654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1000"/>
              </a:lnSpc>
              <a:spcBef>
                <a:spcPts val="0"/>
              </a:spcBef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Bullet point 1</a:t>
            </a:r>
          </a:p>
          <a:p>
            <a:pPr lvl="0"/>
            <a:r>
              <a:rPr lang="en-US" noProof="0" dirty="0"/>
              <a:t>Bullet point 2</a:t>
            </a:r>
          </a:p>
          <a:p>
            <a:pPr lvl="0"/>
            <a:r>
              <a:rPr lang="en-US" noProof="0" dirty="0"/>
              <a:t>Bullet point 3</a:t>
            </a:r>
          </a:p>
          <a:p>
            <a:pPr lvl="0"/>
            <a:r>
              <a:rPr lang="en-US" noProof="0" dirty="0"/>
              <a:t>Bullet point …</a:t>
            </a:r>
          </a:p>
          <a:p>
            <a:pPr lvl="0"/>
            <a:endParaRPr lang="en-US" dirty="0"/>
          </a:p>
          <a:p>
            <a:pPr lvl="0"/>
            <a:endParaRPr lang="de-DE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22D6DE8-DA05-4BFD-83D8-937B39EB7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034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4FC925E-452D-4080-B210-EDC5BF740C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50"/>
            <a:ext cx="8087360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189432-5286-49FD-91D0-31E529DB54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180407"/>
            <a:ext cx="3744913" cy="365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Text can be entered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36268C-854B-4803-9DE0-9F194128005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859339" y="1180407"/>
            <a:ext cx="3744912" cy="365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Text can be entered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04410D-F744-4715-A956-8005E093EAB3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400AC03-A31F-48B1-B112-5E28D7408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354446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bullet points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9D15BC-B49C-45D8-949F-E4AA38C0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51"/>
            <a:ext cx="3767773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010560-5CDB-444E-8FD2-675F9A9D8A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213658"/>
            <a:ext cx="3744913" cy="3654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1000"/>
              </a:lnSpc>
              <a:spcBef>
                <a:spcPts val="0"/>
              </a:spcBef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Bullet point 1</a:t>
            </a:r>
          </a:p>
          <a:p>
            <a:pPr lvl="0"/>
            <a:r>
              <a:rPr lang="en-US" noProof="0" dirty="0"/>
              <a:t>Bullet point 2</a:t>
            </a:r>
          </a:p>
          <a:p>
            <a:pPr lvl="0"/>
            <a:r>
              <a:rPr lang="en-US" noProof="0" dirty="0"/>
              <a:t>Bullet point 3</a:t>
            </a:r>
          </a:p>
          <a:p>
            <a:pPr lvl="0"/>
            <a:r>
              <a:rPr lang="en-US" noProof="0" dirty="0"/>
              <a:t>Bullet point …</a:t>
            </a:r>
          </a:p>
          <a:p>
            <a:pPr lvl="0"/>
            <a:endParaRPr lang="en-US" dirty="0"/>
          </a:p>
          <a:p>
            <a:pPr lvl="0"/>
            <a:endParaRPr lang="de-DE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DA7D37BA-DF05-4662-A834-7972DD5F75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9339" y="554038"/>
            <a:ext cx="3744912" cy="43136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D10BF7D-4FA1-4CFF-870A-589A86545A79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83C58E-AFEF-4269-BE0B-4C4AC8CE76E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 rot="16200000">
            <a:off x="7746887" y="3742486"/>
            <a:ext cx="2062133" cy="1882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de-AT" dirty="0"/>
              <a:t>© Copyright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4FE8C2B-C399-4FA2-949B-BA8515387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71232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9D15BC-B49C-45D8-949F-E4AA38C0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51"/>
            <a:ext cx="3767773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DA7D37BA-DF05-4662-A834-7972DD5F75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9339" y="554038"/>
            <a:ext cx="3744912" cy="43136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D10BF7D-4FA1-4CFF-870A-589A86545A79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83C58E-AFEF-4269-BE0B-4C4AC8CE76E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 rot="16200000">
            <a:off x="7746887" y="3742486"/>
            <a:ext cx="2062133" cy="1882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de-AT" dirty="0"/>
              <a:t>© Copyright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84E631-0E28-4532-97BC-55C656C1DA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180408"/>
            <a:ext cx="3744913" cy="365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Text can be entered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875E214-3A0D-42F8-A28D-1C5E973A6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3011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F091B9E-46CC-4F2F-9D6A-208A92885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55"/>
            <a:ext cx="8087360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606166-1C65-453D-B425-2F56A86CE5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180408"/>
            <a:ext cx="8064500" cy="3654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Text can be entered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9BF4A75-C53B-4165-831F-A2CBFCFF355E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A9E7D1-8DB8-489A-B535-43C5A1ABD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1195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F091B9E-46CC-4F2F-9D6A-208A92885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55"/>
            <a:ext cx="8087360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9BF4A75-C53B-4165-831F-A2CBFCFF355E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DA1269-E68C-4934-B820-6A1613067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180408"/>
            <a:ext cx="8064500" cy="365400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ct val="121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noProof="0" dirty="0"/>
              <a:t>Bullet points can be added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4742C58-EE4E-4224-A0AE-41443E32A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22924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D06FB3-18FB-4ABC-BF94-10243BDA53C8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908F2C-0F9D-4ABE-B94A-3BC2172C8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90" y="531954"/>
            <a:ext cx="8064500" cy="309167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04983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n-US" noProof="0" dirty="0"/>
              <a:t>Add heading here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97943ADF-5BD0-42C9-A63E-DD7C23F5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751" y="1130531"/>
            <a:ext cx="8064500" cy="365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i="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04EA9B-0BCC-4B1B-9E9C-28C9BECE340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 rot="16200000">
            <a:off x="7754344" y="3659359"/>
            <a:ext cx="2062133" cy="1882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 b="0" i="0"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de-AT" dirty="0"/>
              <a:t>© Copyright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9AFF96-8E94-498B-A698-88EE547D6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39891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749B87AD-479B-414D-8020-9B24BCC0F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D06FB3-18FB-4ABC-BF94-10243BDA53C8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7CC136C1-E862-4DF4-87B0-CD9BDDDF4A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820" y="1033532"/>
            <a:ext cx="6071305" cy="3455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de-DE" dirty="0"/>
              <a:t>„</a:t>
            </a:r>
            <a:r>
              <a:rPr lang="en-US" noProof="0" dirty="0"/>
              <a:t>Here you can add a quotation or any extended content that should be highlighted“.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B3B9A65-FE80-441C-AD0E-79F3D1486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41213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0807F4C-D8E2-45B8-8FB3-5BF0EB7EE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D06FB3-18FB-4ABC-BF94-10243BDA53C8}"/>
              </a:ext>
            </a:extLst>
          </p:cNvPr>
          <p:cNvSpPr txBox="1">
            <a:spLocks/>
          </p:cNvSpPr>
          <p:nvPr userDrawn="1"/>
        </p:nvSpPr>
        <p:spPr>
          <a:xfrm>
            <a:off x="6554224" y="5452789"/>
            <a:ext cx="2057400" cy="262211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r" defTabSz="713232" rtl="0" eaLnBrk="1" latinLnBrk="0" hangingPunct="1">
              <a:defRPr sz="800" b="0" i="0" kern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3F59B3-079B-614A-A46D-DBCA13C16B6F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23C92D-19B6-4148-85A9-79EA2D5DE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64" y="2693116"/>
            <a:ext cx="8087360" cy="10168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ct val="121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bg1"/>
                </a:solidFill>
                <a:latin typeface="+mj-lt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pPr lvl="0"/>
            <a:r>
              <a:rPr lang="de-DE" dirty="0"/>
              <a:t>MCI | Die Unternehmerische Hochschule®</a:t>
            </a:r>
            <a:br>
              <a:rPr lang="de-DE" dirty="0"/>
            </a:br>
            <a:r>
              <a:rPr lang="de-DE" dirty="0"/>
              <a:t>MCI | The </a:t>
            </a:r>
            <a:r>
              <a:rPr lang="de-DE" dirty="0" err="1"/>
              <a:t>Entrepreneurial</a:t>
            </a:r>
            <a:r>
              <a:rPr lang="de-DE" dirty="0"/>
              <a:t> School®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E1CD91-C75E-4089-AA65-9B06BCCF2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2376" y="3709981"/>
            <a:ext cx="3744913" cy="1074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1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de-AT" dirty="0" err="1"/>
              <a:t>Universitaetsstrasse</a:t>
            </a:r>
            <a:r>
              <a:rPr lang="de-AT" dirty="0"/>
              <a:t> 15</a:t>
            </a:r>
            <a:br>
              <a:rPr lang="de-AT" dirty="0"/>
            </a:br>
            <a:r>
              <a:rPr lang="de-AT" dirty="0"/>
              <a:t>A-6020 Innsbruck</a:t>
            </a:r>
            <a:br>
              <a:rPr lang="de-AT" dirty="0"/>
            </a:br>
            <a:r>
              <a:rPr lang="de-AT" dirty="0"/>
              <a:t>+43 512 2070</a:t>
            </a:r>
            <a:br>
              <a:rPr lang="de-AT" dirty="0"/>
            </a:br>
            <a:r>
              <a:rPr lang="de-AT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office@mci.edu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41FF372-DA9E-4EC7-843D-BE619D8CF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5982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DB1176-0CF2-4531-9F14-57988F73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208" y="5057323"/>
            <a:ext cx="8166415" cy="125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dirty="0"/>
              <a:t>Student presentation - no official MCI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465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2" r:id="rId3"/>
    <p:sldLayoutId id="2147483662" r:id="rId4"/>
    <p:sldLayoutId id="2147483671" r:id="rId5"/>
    <p:sldLayoutId id="2147483663" r:id="rId6"/>
    <p:sldLayoutId id="2147483664" r:id="rId7"/>
    <p:sldLayoutId id="2147483667" r:id="rId8"/>
    <p:sldLayoutId id="2147483673" r:id="rId9"/>
    <p:sldLayoutId id="2147483669" r:id="rId10"/>
    <p:sldLayoutId id="2147483674" r:id="rId11"/>
    <p:sldLayoutId id="2147483670" r:id="rId12"/>
    <p:sldLayoutId id="2147483675" r:id="rId13"/>
    <p:sldLayoutId id="2147483676" r:id="rId14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9968E78-CD6C-D513-1F47-CE5D5402C8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Modelling and Control </a:t>
            </a:r>
            <a:r>
              <a:rPr lang="de-AT" dirty="0" err="1"/>
              <a:t>of</a:t>
            </a:r>
            <a:r>
              <a:rPr lang="de-AT" dirty="0"/>
              <a:t> a </a:t>
            </a:r>
            <a:r>
              <a:rPr lang="de-AT" dirty="0" err="1"/>
              <a:t>Quadcopter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2C42D4-9CC6-0BC6-6544-182CBEB6C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1800" dirty="0"/>
              <a:t>Andreas Thöni | Samuel Peer</a:t>
            </a:r>
          </a:p>
        </p:txBody>
      </p:sp>
    </p:spTree>
    <p:extLst>
      <p:ext uri="{BB962C8B-B14F-4D97-AF65-F5344CB8AC3E}">
        <p14:creationId xmlns:p14="http://schemas.microsoft.com/office/powerpoint/2010/main" val="55032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97CD2BF-2662-0344-5E09-CF6A3B98491A}"/>
              </a:ext>
            </a:extLst>
          </p:cNvPr>
          <p:cNvSpPr/>
          <p:nvPr/>
        </p:nvSpPr>
        <p:spPr>
          <a:xfrm>
            <a:off x="516889" y="2422536"/>
            <a:ext cx="3588385" cy="1958340"/>
          </a:xfrm>
          <a:prstGeom prst="roundRect">
            <a:avLst/>
          </a:prstGeom>
          <a:solidFill>
            <a:srgbClr val="FFC000">
              <a:alpha val="3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731727-50CD-DE13-A831-BB898A50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Orientations</a:t>
            </a:r>
            <a:r>
              <a:rPr lang="de-AT" dirty="0"/>
              <a:t> &amp; </a:t>
            </a:r>
            <a:r>
              <a:rPr lang="de-AT" dirty="0" err="1"/>
              <a:t>Coordinate</a:t>
            </a:r>
            <a:r>
              <a:rPr lang="de-AT" dirty="0"/>
              <a:t> </a:t>
            </a:r>
            <a:r>
              <a:rPr lang="de-AT" dirty="0" err="1"/>
              <a:t>Transformations</a:t>
            </a:r>
            <a:endParaRPr lang="de-AT" dirty="0"/>
          </a:p>
        </p:txBody>
      </p:sp>
      <p:pic>
        <p:nvPicPr>
          <p:cNvPr id="17" name="Inhaltsplatzhalter 16">
            <a:extLst>
              <a:ext uri="{FF2B5EF4-FFF2-40B4-BE49-F238E27FC236}">
                <a16:creationId xmlns:a16="http://schemas.microsoft.com/office/drawing/2014/main" id="{9CF8B7A1-1B49-B692-78BD-9AE33CA3D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5910" y="958308"/>
            <a:ext cx="3819831" cy="3422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1515A5A-D137-16E3-080F-54598BF09075}"/>
                  </a:ext>
                </a:extLst>
              </p:cNvPr>
              <p:cNvSpPr txBox="1"/>
              <p:nvPr/>
            </p:nvSpPr>
            <p:spPr>
              <a:xfrm>
                <a:off x="826206" y="2858428"/>
                <a:ext cx="2372764" cy="3068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bar>
                            <m:bar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bSup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1515A5A-D137-16E3-080F-54598BF0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06" y="2858428"/>
                <a:ext cx="2372764" cy="306879"/>
              </a:xfrm>
              <a:prstGeom prst="rect">
                <a:avLst/>
              </a:prstGeom>
              <a:blipFill>
                <a:blip r:embed="rId4"/>
                <a:stretch>
                  <a:fillRect l="-771" t="-16000" r="-1028" b="-3000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3AECDF-8036-8AD4-0DDB-08209CC89921}"/>
                  </a:ext>
                </a:extLst>
              </p:cNvPr>
              <p:cNvSpPr txBox="1"/>
              <p:nvPr/>
            </p:nvSpPr>
            <p:spPr>
              <a:xfrm>
                <a:off x="826206" y="3601199"/>
                <a:ext cx="3124573" cy="390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A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e>
                      </m:ba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bar>
                        <m:bar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e>
                      </m:ba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bar>
                        <m:bar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e>
                      </m:ba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3AECDF-8036-8AD4-0DDB-08209CC89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06" y="3601199"/>
                <a:ext cx="3124573" cy="390043"/>
              </a:xfrm>
              <a:prstGeom prst="rect">
                <a:avLst/>
              </a:prstGeom>
              <a:blipFill>
                <a:blip r:embed="rId5"/>
                <a:stretch>
                  <a:fillRect l="-391" t="-12500" r="-586" b="-156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70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ED1DB-390E-7CB2-ED37-16F54F10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7C7BCFB-5F06-E9E9-600B-30587CDB083B}"/>
              </a:ext>
            </a:extLst>
          </p:cNvPr>
          <p:cNvSpPr/>
          <p:nvPr/>
        </p:nvSpPr>
        <p:spPr>
          <a:xfrm>
            <a:off x="516890" y="2192552"/>
            <a:ext cx="4909698" cy="2887980"/>
          </a:xfrm>
          <a:prstGeom prst="roundRect">
            <a:avLst/>
          </a:prstGeom>
          <a:solidFill>
            <a:srgbClr val="FFC000">
              <a:alpha val="3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5DB639-46A2-BF0F-B782-C5A865146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4758" y="957276"/>
            <a:ext cx="3820982" cy="3423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5628CC0-37EF-F8FC-C424-085C6076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Rotational</a:t>
            </a:r>
            <a:r>
              <a:rPr lang="de-AT" dirty="0"/>
              <a:t> </a:t>
            </a:r>
            <a:r>
              <a:rPr lang="de-AT" dirty="0" err="1"/>
              <a:t>Kinematics</a:t>
            </a:r>
            <a:endParaRPr lang="de-A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B1576974-D10A-1506-491C-AB351EE106A7}"/>
                  </a:ext>
                </a:extLst>
              </p:cNvPr>
              <p:cNvSpPr txBox="1"/>
              <p:nvPr/>
            </p:nvSpPr>
            <p:spPr>
              <a:xfrm>
                <a:off x="645557" y="2364207"/>
                <a:ext cx="4761432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ba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bar>
                        <m:bar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ba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bar>
                        <m:bar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ba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B1576974-D10A-1506-491C-AB351EE10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57" y="2364207"/>
                <a:ext cx="4761432" cy="884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4055D062-61F9-0FC4-8709-8E29C4F5E5E1}"/>
                  </a:ext>
                </a:extLst>
              </p:cNvPr>
              <p:cNvSpPr txBox="1"/>
              <p:nvPr/>
            </p:nvSpPr>
            <p:spPr>
              <a:xfrm>
                <a:off x="645557" y="3636542"/>
                <a:ext cx="471712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A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A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de-A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de-A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de-A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AT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AT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de-AT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AT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e-AT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AT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de-A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A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A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q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AT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4055D062-61F9-0FC4-8709-8E29C4F5E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57" y="3636542"/>
                <a:ext cx="4717125" cy="1020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61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00D9-1F42-ACBD-4928-D66483A9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D10DF0C-8D49-2799-C239-E2769383AEA6}"/>
              </a:ext>
            </a:extLst>
          </p:cNvPr>
          <p:cNvSpPr/>
          <p:nvPr/>
        </p:nvSpPr>
        <p:spPr>
          <a:xfrm>
            <a:off x="516890" y="1194121"/>
            <a:ext cx="3613536" cy="3988924"/>
          </a:xfrm>
          <a:prstGeom prst="roundRect">
            <a:avLst/>
          </a:prstGeom>
          <a:solidFill>
            <a:srgbClr val="FFC000">
              <a:alpha val="3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0C4FC2-3206-458F-2708-CEC4EBB3D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4758" y="949656"/>
            <a:ext cx="3820982" cy="34235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E20BAB2-9869-A5E3-9982-4E45A708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Translational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25B79D1-5CA7-10E0-AC07-ED08495046B4}"/>
                  </a:ext>
                </a:extLst>
              </p:cNvPr>
              <p:cNvSpPr txBox="1"/>
              <p:nvPr/>
            </p:nvSpPr>
            <p:spPr>
              <a:xfrm>
                <a:off x="822306" y="1501486"/>
                <a:ext cx="2487219" cy="3599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̈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d>
                            <m:d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sup>
                      </m:sSub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25B79D1-5CA7-10E0-AC07-ED0849504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6" y="1501486"/>
                <a:ext cx="2487219" cy="359907"/>
              </a:xfrm>
              <a:prstGeom prst="rect">
                <a:avLst/>
              </a:prstGeom>
              <a:blipFill>
                <a:blip r:embed="rId4"/>
                <a:stretch>
                  <a:fillRect l="-980" r="-490" b="-1694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98CD3DEE-CFD1-2BA1-C8D8-09AFD25B5874}"/>
                  </a:ext>
                </a:extLst>
              </p:cNvPr>
              <p:cNvSpPr txBox="1"/>
              <p:nvPr/>
            </p:nvSpPr>
            <p:spPr>
              <a:xfrm>
                <a:off x="822306" y="4197392"/>
                <a:ext cx="1668149" cy="776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bar>
                            <m:bar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p>
                      </m:sSubSup>
                      <m:nary>
                        <m:naryPr>
                          <m:chr m:val="∑"/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brk m:alnAt="23"/>
                            </m:rPr>
                            <a:rPr lang="de-AT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98CD3DEE-CFD1-2BA1-C8D8-09AFD25B5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6" y="4197392"/>
                <a:ext cx="1668149" cy="776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FFD2960-70F8-3700-3AB7-33AADC0FBDB4}"/>
                  </a:ext>
                </a:extLst>
              </p:cNvPr>
              <p:cNvSpPr txBox="1"/>
              <p:nvPr/>
            </p:nvSpPr>
            <p:spPr>
              <a:xfrm>
                <a:off x="822306" y="2118110"/>
                <a:ext cx="3228256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AT" b="0" i="0" smtClean="0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de-AT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AT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AT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FFD2960-70F8-3700-3AB7-33AADC0FB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6" y="2118110"/>
                <a:ext cx="3228256" cy="884281"/>
              </a:xfrm>
              <a:prstGeom prst="rect">
                <a:avLst/>
              </a:prstGeom>
              <a:blipFill>
                <a:blip r:embed="rId6"/>
                <a:stretch>
                  <a:fillRect l="-18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5308BC-FF69-5638-7623-C27F540FF830}"/>
                  </a:ext>
                </a:extLst>
              </p:cNvPr>
              <p:cNvSpPr txBox="1"/>
              <p:nvPr/>
            </p:nvSpPr>
            <p:spPr>
              <a:xfrm>
                <a:off x="822306" y="3234742"/>
                <a:ext cx="3066993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AT" b="0" i="0" smtClean="0">
                                        <a:latin typeface="Cambria Math" panose="02040503050406030204" pitchFamily="18" charset="0"/>
                                      </a:rPr>
                                      <m:t>dx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AT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AT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AT" b="0" i="0" smtClean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de-A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AT" i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  <m: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de-A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AT" i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  <m:r>
                                      <a:rPr lang="de-AT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5308BC-FF69-5638-7623-C27F540FF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6" y="3234742"/>
                <a:ext cx="3066993" cy="8842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12CBAB9-0710-4E78-3D19-E742A94CBFBF}"/>
                  </a:ext>
                </a:extLst>
              </p:cNvPr>
              <p:cNvSpPr txBox="1"/>
              <p:nvPr/>
            </p:nvSpPr>
            <p:spPr>
              <a:xfrm>
                <a:off x="6615249" y="1501486"/>
                <a:ext cx="10706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12CBAB9-0710-4E78-3D19-E742A94CB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249" y="1501486"/>
                <a:ext cx="1070613" cy="276999"/>
              </a:xfrm>
              <a:prstGeom prst="rect">
                <a:avLst/>
              </a:prstGeom>
              <a:blipFill>
                <a:blip r:embed="rId8"/>
                <a:stretch>
                  <a:fillRect l="-3977" r="-568" b="-1739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96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8143-864A-5769-FFFB-484A2416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C5CB5A4-B8FB-53B5-0EF3-DB0503687E12}"/>
              </a:ext>
            </a:extLst>
          </p:cNvPr>
          <p:cNvSpPr/>
          <p:nvPr/>
        </p:nvSpPr>
        <p:spPr>
          <a:xfrm>
            <a:off x="516890" y="1674965"/>
            <a:ext cx="4055110" cy="3157560"/>
          </a:xfrm>
          <a:prstGeom prst="roundRect">
            <a:avLst/>
          </a:prstGeom>
          <a:solidFill>
            <a:srgbClr val="FFC000">
              <a:alpha val="3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DE7EE46-1534-208A-6FB7-FD7F86961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4758" y="957276"/>
            <a:ext cx="3820981" cy="34235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910FAA3-F7CA-2BF7-A6F6-C7CA24AD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Rotational</a:t>
            </a:r>
            <a:r>
              <a:rPr lang="de-AT" dirty="0"/>
              <a:t>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66EB5AE4-8451-B06B-119A-B9DE1C8FEF9E}"/>
                  </a:ext>
                </a:extLst>
              </p:cNvPr>
              <p:cNvSpPr txBox="1"/>
              <p:nvPr/>
            </p:nvSpPr>
            <p:spPr>
              <a:xfrm>
                <a:off x="640331" y="1823815"/>
                <a:ext cx="3894656" cy="3460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ba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̇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⃑"/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d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</m:bar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⃑"/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gyr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ctr</m:t>
                          </m:r>
                        </m:sub>
                      </m:sSub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66EB5AE4-8451-B06B-119A-B9DE1C8FE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1" y="1823815"/>
                <a:ext cx="3894656" cy="346057"/>
              </a:xfrm>
              <a:prstGeom prst="rect">
                <a:avLst/>
              </a:prstGeom>
              <a:blipFill>
                <a:blip r:embed="rId4"/>
                <a:stretch>
                  <a:fillRect l="-782" t="-8772" b="-17544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82B811B-8DA4-575C-820A-EA1EC1D1474E}"/>
                  </a:ext>
                </a:extLst>
              </p:cNvPr>
              <p:cNvSpPr txBox="1"/>
              <p:nvPr/>
            </p:nvSpPr>
            <p:spPr>
              <a:xfrm>
                <a:off x="871978" y="4251151"/>
                <a:ext cx="25447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82B811B-8DA4-575C-820A-EA1EC1D14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8" y="4251151"/>
                <a:ext cx="2544799" cy="276999"/>
              </a:xfrm>
              <a:prstGeom prst="rect">
                <a:avLst/>
              </a:prstGeom>
              <a:blipFill>
                <a:blip r:embed="rId5"/>
                <a:stretch>
                  <a:fillRect l="-240" b="-1304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B830459-8800-7A01-6D9F-F1274CF9457F}"/>
                  </a:ext>
                </a:extLst>
              </p:cNvPr>
              <p:cNvSpPr txBox="1"/>
              <p:nvPr/>
            </p:nvSpPr>
            <p:spPr>
              <a:xfrm>
                <a:off x="871978" y="2586902"/>
                <a:ext cx="1907445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B830459-8800-7A01-6D9F-F1274CF94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8" y="2586902"/>
                <a:ext cx="1907445" cy="280718"/>
              </a:xfrm>
              <a:prstGeom prst="rect">
                <a:avLst/>
              </a:prstGeom>
              <a:blipFill>
                <a:blip r:embed="rId6"/>
                <a:stretch>
                  <a:fillRect l="-1597" b="-2391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32382C9-6514-B520-FB3B-583E96AD11C0}"/>
                  </a:ext>
                </a:extLst>
              </p:cNvPr>
              <p:cNvSpPr txBox="1"/>
              <p:nvPr/>
            </p:nvSpPr>
            <p:spPr>
              <a:xfrm>
                <a:off x="839348" y="3108464"/>
                <a:ext cx="1979901" cy="324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32382C9-6514-B520-FB3B-583E96AD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48" y="3108464"/>
                <a:ext cx="1979901" cy="324641"/>
              </a:xfrm>
              <a:prstGeom prst="rect">
                <a:avLst/>
              </a:prstGeom>
              <a:blipFill>
                <a:blip r:embed="rId7"/>
                <a:stretch>
                  <a:fillRect b="-1886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8191A1C-C0B0-D315-E504-CA1DBABEDCA6}"/>
                  </a:ext>
                </a:extLst>
              </p:cNvPr>
              <p:cNvSpPr txBox="1"/>
              <p:nvPr/>
            </p:nvSpPr>
            <p:spPr>
              <a:xfrm>
                <a:off x="871978" y="3664483"/>
                <a:ext cx="2889445" cy="282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8191A1C-C0B0-D315-E504-CA1DBABED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78" y="3664483"/>
                <a:ext cx="2889445" cy="282129"/>
              </a:xfrm>
              <a:prstGeom prst="rect">
                <a:avLst/>
              </a:prstGeom>
              <a:blipFill>
                <a:blip r:embed="rId8"/>
                <a:stretch>
                  <a:fillRect l="-844" b="-2391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9733C42-5ED1-69BA-20A1-69F9D567CA3D}"/>
                  </a:ext>
                </a:extLst>
              </p:cNvPr>
              <p:cNvSpPr txBox="1"/>
              <p:nvPr/>
            </p:nvSpPr>
            <p:spPr>
              <a:xfrm>
                <a:off x="6615249" y="1248682"/>
                <a:ext cx="10706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9733C42-5ED1-69BA-20A1-69F9D567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249" y="1248682"/>
                <a:ext cx="1070613" cy="276999"/>
              </a:xfrm>
              <a:prstGeom prst="rect">
                <a:avLst/>
              </a:prstGeom>
              <a:blipFill>
                <a:blip r:embed="rId9"/>
                <a:stretch>
                  <a:fillRect l="-3977" r="-568" b="-17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51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3EB7-8263-09F0-891A-920394FD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FAC2DE0-3054-FE80-8AD1-657ED326A53E}"/>
              </a:ext>
            </a:extLst>
          </p:cNvPr>
          <p:cNvSpPr/>
          <p:nvPr/>
        </p:nvSpPr>
        <p:spPr>
          <a:xfrm>
            <a:off x="516890" y="1729210"/>
            <a:ext cx="4262798" cy="3352635"/>
          </a:xfrm>
          <a:prstGeom prst="roundRect">
            <a:avLst/>
          </a:prstGeom>
          <a:solidFill>
            <a:srgbClr val="FFC000">
              <a:alpha val="3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44DB11F-42E1-DE51-E4D8-D6555E793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4758" y="957276"/>
            <a:ext cx="3820981" cy="34235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0A50081-E484-5A66-6226-0E78F1C8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Rotational</a:t>
            </a:r>
            <a:r>
              <a:rPr lang="de-AT" dirty="0"/>
              <a:t>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88506D-286B-5BB8-FAD4-DF9CB9E531D6}"/>
                  </a:ext>
                </a:extLst>
              </p:cNvPr>
              <p:cNvSpPr txBox="1"/>
              <p:nvPr/>
            </p:nvSpPr>
            <p:spPr>
              <a:xfrm>
                <a:off x="6615249" y="1248682"/>
                <a:ext cx="10706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88506D-286B-5BB8-FAD4-DF9CB9E53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249" y="1248682"/>
                <a:ext cx="1070613" cy="276999"/>
              </a:xfrm>
              <a:prstGeom prst="rect">
                <a:avLst/>
              </a:prstGeom>
              <a:blipFill>
                <a:blip r:embed="rId5"/>
                <a:stretch>
                  <a:fillRect l="-3977" r="-568" b="-1777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FCA2631-EAF4-D97E-4CC7-581674AFFD42}"/>
                  </a:ext>
                </a:extLst>
              </p:cNvPr>
              <p:cNvSpPr txBox="1"/>
              <p:nvPr/>
            </p:nvSpPr>
            <p:spPr>
              <a:xfrm>
                <a:off x="764357" y="2683356"/>
                <a:ext cx="3961405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xx</m:t>
                              </m:r>
                            </m:sub>
                          </m:sSub>
                        </m:den>
                      </m:f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AT">
                                      <a:latin typeface="Cambria Math" panose="02040503050406030204" pitchFamily="18" charset="0"/>
                                    </a:rPr>
                                    <m:t>yy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AT">
                                      <a:latin typeface="Cambria Math" panose="02040503050406030204" pitchFamily="18" charset="0"/>
                                    </a:rPr>
                                    <m:t>zz</m:t>
                                  </m:r>
                                </m:sub>
                              </m:sSub>
                            </m:e>
                          </m:d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FCA2631-EAF4-D97E-4CC7-581674AFF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7" y="2683356"/>
                <a:ext cx="3961405" cy="565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6438A19-20CC-F8CE-C184-693BD0868349}"/>
                  </a:ext>
                </a:extLst>
              </p:cNvPr>
              <p:cNvSpPr txBox="1"/>
              <p:nvPr/>
            </p:nvSpPr>
            <p:spPr>
              <a:xfrm>
                <a:off x="764357" y="3451359"/>
                <a:ext cx="3840730" cy="601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yy</m:t>
                              </m:r>
                            </m:sub>
                          </m:sSub>
                        </m:den>
                      </m:f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zz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xx</m:t>
                                  </m:r>
                                </m:sub>
                              </m:sSub>
                            </m:e>
                          </m:d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6438A19-20CC-F8CE-C184-693BD0868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7" y="3451359"/>
                <a:ext cx="3840730" cy="6017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9A2E03-0FD8-F099-E838-797BF96115F8}"/>
                  </a:ext>
                </a:extLst>
              </p:cNvPr>
              <p:cNvSpPr txBox="1"/>
              <p:nvPr/>
            </p:nvSpPr>
            <p:spPr>
              <a:xfrm>
                <a:off x="764357" y="4255398"/>
                <a:ext cx="3038781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zz</m:t>
                              </m:r>
                            </m:sub>
                          </m:sSub>
                        </m:den>
                      </m:f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xx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</a:rPr>
                                    <m:t>yy</m:t>
                                  </m:r>
                                </m:sub>
                              </m:sSub>
                            </m:e>
                          </m:d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9A2E03-0FD8-F099-E838-797BF961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7" y="4255398"/>
                <a:ext cx="3038781" cy="565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85D5F6A-B0E9-2F1C-CAA7-C4920B17EF67}"/>
                  </a:ext>
                </a:extLst>
              </p:cNvPr>
              <p:cNvSpPr txBox="1"/>
              <p:nvPr/>
            </p:nvSpPr>
            <p:spPr>
              <a:xfrm>
                <a:off x="764357" y="1981072"/>
                <a:ext cx="3894656" cy="3460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ba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̇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⃑"/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</m:acc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d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</m:bar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⃑"/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AT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</a:rPr>
                            <m:t>gyr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A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ctr</m:t>
                          </m:r>
                        </m:sub>
                      </m:sSub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85D5F6A-B0E9-2F1C-CAA7-C4920B17E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7" y="1981072"/>
                <a:ext cx="3894656" cy="346057"/>
              </a:xfrm>
              <a:prstGeom prst="rect">
                <a:avLst/>
              </a:prstGeom>
              <a:blipFill>
                <a:blip r:embed="rId9"/>
                <a:stretch>
                  <a:fillRect l="-782" t="-10526" b="-17544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27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25AD-7398-A4CB-B3AD-2388E2F9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32701-09E3-521D-C006-75DDD387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0" y="2323104"/>
            <a:ext cx="8087360" cy="309167"/>
          </a:xfrm>
        </p:spPr>
        <p:txBody>
          <a:bodyPr/>
          <a:lstStyle/>
          <a:p>
            <a:pPr algn="ctr"/>
            <a:r>
              <a:rPr lang="de-AT" dirty="0"/>
              <a:t>Simulink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7406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MCINEU">
      <a:dk1>
        <a:sysClr val="windowText" lastClr="000000"/>
      </a:dk1>
      <a:lt1>
        <a:sysClr val="window" lastClr="FFFFFF"/>
      </a:lt1>
      <a:dk2>
        <a:srgbClr val="004983"/>
      </a:dk2>
      <a:lt2>
        <a:srgbClr val="F49B00"/>
      </a:lt2>
      <a:accent1>
        <a:srgbClr val="004983"/>
      </a:accent1>
      <a:accent2>
        <a:srgbClr val="F49B00"/>
      </a:accent2>
      <a:accent3>
        <a:srgbClr val="004B51"/>
      </a:accent3>
      <a:accent4>
        <a:srgbClr val="4E7FA8"/>
      </a:accent4>
      <a:accent5>
        <a:srgbClr val="783F4F"/>
      </a:accent5>
      <a:accent6>
        <a:srgbClr val="CD943A"/>
      </a:accent6>
      <a:hlink>
        <a:srgbClr val="0000FF"/>
      </a:hlink>
      <a:folHlink>
        <a:srgbClr val="800080"/>
      </a:folHlink>
    </a:clrScheme>
    <a:fontScheme name="MCI">
      <a:majorFont>
        <a:latin typeface="Noto Sans SemiBold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265</Words>
  <Application>Microsoft Office PowerPoint</Application>
  <PresentationFormat>Bildschirmpräsentation (16:10)</PresentationFormat>
  <Paragraphs>37</Paragraphs>
  <Slides>7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Noto Sans</vt:lpstr>
      <vt:lpstr>Office</vt:lpstr>
      <vt:lpstr>PowerPoint-Präsentation</vt:lpstr>
      <vt:lpstr>Orientations &amp; Coordinate Transformations</vt:lpstr>
      <vt:lpstr>Rotational Kinematics</vt:lpstr>
      <vt:lpstr>Translational Dynamics</vt:lpstr>
      <vt:lpstr>Rotational Dynamics</vt:lpstr>
      <vt:lpstr>Rotational Dynamics</vt:lpstr>
      <vt:lpstr>Simulink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Martina Geir</dc:creator>
  <cp:lastModifiedBy>Andreas Thöni</cp:lastModifiedBy>
  <cp:revision>85</cp:revision>
  <dcterms:created xsi:type="dcterms:W3CDTF">2025-07-14T13:55:07Z</dcterms:created>
  <dcterms:modified xsi:type="dcterms:W3CDTF">2026-06-08T08:46:42Z</dcterms:modified>
</cp:coreProperties>
</file>